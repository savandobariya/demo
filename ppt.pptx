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0270" y="691467"/>
            <a:ext cx="8241219" cy="8154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5149" y="3235503"/>
            <a:ext cx="17873801" cy="5960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20.jpg"/><Relationship Id="rId9" Type="http://schemas.openxmlformats.org/officeDocument/2006/relationships/image" Target="../media/image21.jpg"/><Relationship Id="rId10" Type="http://schemas.openxmlformats.org/officeDocument/2006/relationships/image" Target="../media/image2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5.jpg"/><Relationship Id="rId4" Type="http://schemas.openxmlformats.org/officeDocument/2006/relationships/image" Target="../media/image2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jpg"/><Relationship Id="rId6" Type="http://schemas.openxmlformats.org/officeDocument/2006/relationships/image" Target="../media/image3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706" y="3266916"/>
            <a:ext cx="20088860" cy="62865"/>
            <a:chOff x="15706" y="3266916"/>
            <a:chExt cx="20088860" cy="6286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3266916"/>
              <a:ext cx="20088393" cy="62825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3266916"/>
              <a:ext cx="20088393" cy="62825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15706" y="3926582"/>
            <a:ext cx="20080605" cy="668020"/>
          </a:xfrm>
          <a:custGeom>
            <a:avLst/>
            <a:gdLst/>
            <a:ahLst/>
            <a:cxnLst/>
            <a:rect l="l" t="t" r="r" b="b"/>
            <a:pathLst>
              <a:path w="20080605" h="668020">
                <a:moveTo>
                  <a:pt x="20080541" y="667518"/>
                </a:moveTo>
                <a:lnTo>
                  <a:pt x="0" y="66751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67518"/>
                </a:lnTo>
                <a:close/>
              </a:path>
            </a:pathLst>
          </a:custGeom>
          <a:solidFill>
            <a:srgbClr val="0C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77588" y="3650146"/>
            <a:ext cx="11558270" cy="11055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050" spc="-695">
                <a:solidFill>
                  <a:srgbClr val="F6F6F6"/>
                </a:solidFill>
              </a:rPr>
              <a:t>INTERNSHIP</a:t>
            </a:r>
            <a:r>
              <a:rPr dirty="0" sz="7050" spc="355">
                <a:solidFill>
                  <a:srgbClr val="F6F6F6"/>
                </a:solidFill>
              </a:rPr>
              <a:t> </a:t>
            </a:r>
            <a:r>
              <a:rPr dirty="0" sz="7050" spc="-590">
                <a:solidFill>
                  <a:srgbClr val="49FDA7"/>
                </a:solidFill>
              </a:rPr>
              <a:t>CYBERSECURIã"\’</a:t>
            </a:r>
            <a:endParaRPr sz="7050"/>
          </a:p>
        </p:txBody>
      </p:sp>
      <p:sp>
        <p:nvSpPr>
          <p:cNvPr id="7" name="object 7" descr=""/>
          <p:cNvSpPr/>
          <p:nvPr/>
        </p:nvSpPr>
        <p:spPr>
          <a:xfrm>
            <a:off x="15706" y="4900374"/>
            <a:ext cx="20080605" cy="668020"/>
          </a:xfrm>
          <a:custGeom>
            <a:avLst/>
            <a:gdLst/>
            <a:ahLst/>
            <a:cxnLst/>
            <a:rect l="l" t="t" r="r" b="b"/>
            <a:pathLst>
              <a:path w="20080605" h="668020">
                <a:moveTo>
                  <a:pt x="20080541" y="667518"/>
                </a:moveTo>
                <a:lnTo>
                  <a:pt x="0" y="66751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67518"/>
                </a:lnTo>
                <a:close/>
              </a:path>
            </a:pathLst>
          </a:custGeom>
          <a:solidFill>
            <a:srgbClr val="0A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447812" y="4558495"/>
            <a:ext cx="3079115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600" spc="-1335">
                <a:solidFill>
                  <a:srgbClr val="80F6C3"/>
                </a:solidFill>
                <a:latin typeface="Arial MT"/>
                <a:cs typeface="Arial MT"/>
              </a:rPr>
              <a:t>REPORT</a:t>
            </a:r>
            <a:endParaRPr sz="760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5706" y="8041640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C0F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635254" y="8012579"/>
            <a:ext cx="1742439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160">
                <a:solidFill>
                  <a:srgbClr val="D4D4D4"/>
                </a:solidFill>
                <a:latin typeface="Arial MT"/>
                <a:cs typeface="Arial MT"/>
              </a:rPr>
              <a:t>@</a:t>
            </a:r>
            <a:r>
              <a:rPr dirty="0" sz="1650" spc="-204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1650" spc="-70">
                <a:solidFill>
                  <a:srgbClr val="E2E2E2"/>
                </a:solidFill>
                <a:latin typeface="Arial MT"/>
                <a:cs typeface="Arial MT"/>
              </a:rPr>
              <a:t>sa</a:t>
            </a:r>
            <a:r>
              <a:rPr dirty="0" sz="1650" spc="-18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650" spc="65">
                <a:solidFill>
                  <a:srgbClr val="E2E2E2"/>
                </a:solidFill>
                <a:latin typeface="Arial MT"/>
                <a:cs typeface="Arial MT"/>
              </a:rPr>
              <a:t>vand</a:t>
            </a:r>
            <a:r>
              <a:rPr dirty="0" sz="1650" spc="-25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DBDBDB"/>
                </a:solidFill>
                <a:latin typeface="Arial MT"/>
                <a:cs typeface="Arial MT"/>
              </a:rPr>
              <a:t>ob</a:t>
            </a:r>
            <a:r>
              <a:rPr dirty="0" sz="1650" spc="-22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650" spc="-155">
                <a:solidFill>
                  <a:srgbClr val="E6E6E6"/>
                </a:solidFill>
                <a:latin typeface="Arial MT"/>
                <a:cs typeface="Arial MT"/>
              </a:rPr>
              <a:t>a</a:t>
            </a:r>
            <a:r>
              <a:rPr dirty="0" sz="1650" spc="-16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650" spc="-245" i="1">
                <a:solidFill>
                  <a:srgbClr val="DBDBDB"/>
                </a:solidFill>
                <a:latin typeface="Arial"/>
                <a:cs typeface="Arial"/>
              </a:rPr>
              <a:t>ray</a:t>
            </a:r>
            <a:r>
              <a:rPr dirty="0" sz="1650" spc="-120" i="1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dirty="0" sz="1650" spc="-50" i="1">
                <a:solidFill>
                  <a:srgbClr val="D4D4D4"/>
                </a:solidFill>
                <a:latin typeface="Arial"/>
                <a:cs typeface="Arial"/>
              </a:rPr>
              <a:t>a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466650" y="7979857"/>
            <a:ext cx="129286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80">
                <a:solidFill>
                  <a:srgbClr val="E8E8E8"/>
                </a:solidFill>
                <a:latin typeface="Arial MT"/>
                <a:cs typeface="Arial MT"/>
              </a:rPr>
              <a:t>2026-</a:t>
            </a:r>
            <a:r>
              <a:rPr dirty="0" sz="1900" spc="70">
                <a:solidFill>
                  <a:srgbClr val="E8E8E8"/>
                </a:solidFill>
                <a:latin typeface="Arial MT"/>
                <a:cs typeface="Arial MT"/>
              </a:rPr>
              <a:t>0524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087219" y="8012579"/>
            <a:ext cx="272351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65" i="1">
                <a:solidFill>
                  <a:srgbClr val="F9FFED"/>
                </a:solidFill>
                <a:latin typeface="Arial"/>
                <a:cs typeface="Arial"/>
              </a:rPr>
              <a:t>fii/'</a:t>
            </a:r>
            <a:r>
              <a:rPr dirty="0" sz="1650" spc="340" i="1">
                <a:solidFill>
                  <a:srgbClr val="F9FFED"/>
                </a:solidFill>
                <a:latin typeface="Arial"/>
                <a:cs typeface="Arial"/>
              </a:rPr>
              <a:t> </a:t>
            </a:r>
            <a:r>
              <a:rPr dirty="0" sz="1650" spc="-60">
                <a:solidFill>
                  <a:srgbClr val="DFDFDF"/>
                </a:solidFill>
                <a:latin typeface="Arial MT"/>
                <a:cs typeface="Arial MT"/>
              </a:rPr>
              <a:t>CO</a:t>
            </a:r>
            <a:r>
              <a:rPr dirty="0" sz="1650" spc="-229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DDDDDD"/>
                </a:solidFill>
                <a:latin typeface="Arial MT"/>
                <a:cs typeface="Arial MT"/>
              </a:rPr>
              <a:t>M</a:t>
            </a:r>
            <a:r>
              <a:rPr dirty="0" sz="1650">
                <a:solidFill>
                  <a:srgbClr val="D8D8D8"/>
                </a:solidFill>
                <a:latin typeface="Arial MT"/>
                <a:cs typeface="Arial MT"/>
              </a:rPr>
              <a:t>PLETE</a:t>
            </a:r>
            <a:r>
              <a:rPr dirty="0" sz="1650" spc="10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DBDBDB"/>
                </a:solidFill>
                <a:latin typeface="Arial MT"/>
                <a:cs typeface="Arial MT"/>
              </a:rPr>
              <a:t>&amp;</a:t>
            </a:r>
            <a:r>
              <a:rPr dirty="0" sz="1650" spc="114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650" spc="-80">
                <a:solidFill>
                  <a:srgbClr val="E2E2E2"/>
                </a:solidFill>
                <a:latin typeface="Arial MT"/>
                <a:cs typeface="Arial MT"/>
              </a:rPr>
              <a:t>VERI</a:t>
            </a:r>
            <a:r>
              <a:rPr dirty="0" sz="1650" spc="-28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DDDDDD"/>
                </a:solidFill>
                <a:latin typeface="Arial MT"/>
                <a:cs typeface="Arial MT"/>
              </a:rPr>
              <a:t>FI</a:t>
            </a:r>
            <a:r>
              <a:rPr dirty="0" sz="1650" spc="-20">
                <a:solidFill>
                  <a:srgbClr val="D8D8D8"/>
                </a:solidFill>
                <a:latin typeface="Arial MT"/>
                <a:cs typeface="Arial MT"/>
              </a:rPr>
              <a:t>ED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926673"/>
            <a:ext cx="20080605" cy="605155"/>
          </a:xfrm>
          <a:custGeom>
            <a:avLst/>
            <a:gdLst/>
            <a:ahLst/>
            <a:cxnLst/>
            <a:rect l="l" t="t" r="r" b="b"/>
            <a:pathLst>
              <a:path w="20080605" h="605155">
                <a:moveTo>
                  <a:pt x="20080541" y="604693"/>
                </a:moveTo>
                <a:lnTo>
                  <a:pt x="0" y="60469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04693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91238" y="715681"/>
            <a:ext cx="5260340" cy="79121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0" spc="-235"/>
              <a:t>Executive</a:t>
            </a:r>
            <a:r>
              <a:rPr dirty="0" sz="5000" spc="-75"/>
              <a:t> </a:t>
            </a:r>
            <a:r>
              <a:rPr dirty="0" sz="5000" spc="-145"/>
              <a:t>Summary</a:t>
            </a:r>
            <a:endParaRPr sz="5000"/>
          </a:p>
        </p:txBody>
      </p:sp>
      <p:sp>
        <p:nvSpPr>
          <p:cNvPr id="4" name="object 4" descr=""/>
          <p:cNvSpPr/>
          <p:nvPr/>
        </p:nvSpPr>
        <p:spPr>
          <a:xfrm>
            <a:off x="15706" y="5952698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C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519234" y="5872592"/>
            <a:ext cx="231648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55">
                <a:solidFill>
                  <a:srgbClr val="FFFFFF"/>
                </a:solidFill>
                <a:latin typeface="Arial MT"/>
                <a:cs typeface="Arial MT"/>
              </a:rPr>
              <a:t>Task</a:t>
            </a:r>
            <a:r>
              <a:rPr dirty="0" sz="24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355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dirty="0" sz="245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Complete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636849" y="5872592"/>
            <a:ext cx="232029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Task</a:t>
            </a:r>
            <a:r>
              <a:rPr dirty="0" sz="2450" spc="-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5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dirty="0" sz="2450" spc="-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Scanning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740663" y="5888952"/>
            <a:ext cx="217932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80">
                <a:solidFill>
                  <a:srgbClr val="FFFFFF"/>
                </a:solidFill>
                <a:latin typeface="Arial MT"/>
                <a:cs typeface="Arial MT"/>
              </a:rPr>
              <a:t>Severity</a:t>
            </a:r>
            <a:r>
              <a:rPr dirty="0" sz="230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125">
                <a:solidFill>
                  <a:srgbClr val="FFFFFF"/>
                </a:solidFill>
                <a:latin typeface="Arial MT"/>
                <a:cs typeface="Arial MT"/>
              </a:rPr>
              <a:t>Metric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402976" y="0"/>
            <a:ext cx="1704339" cy="11285220"/>
          </a:xfrm>
          <a:custGeom>
            <a:avLst/>
            <a:gdLst/>
            <a:ahLst/>
            <a:cxnLst/>
            <a:rect l="l" t="t" r="r" b="b"/>
            <a:pathLst>
              <a:path w="1704340" h="11285220">
                <a:moveTo>
                  <a:pt x="1704136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1704136" y="0"/>
                </a:lnTo>
                <a:lnTo>
                  <a:pt x="1704136" y="11284997"/>
                </a:lnTo>
                <a:close/>
              </a:path>
            </a:pathLst>
          </a:custGeom>
          <a:solidFill>
            <a:srgbClr val="0C0F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99509" y="4718831"/>
            <a:ext cx="1704339" cy="10858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950" spc="130">
                <a:latin typeface="Calibri"/>
                <a:cs typeface="Calibri"/>
              </a:rPr>
              <a:t>Task</a:t>
            </a:r>
            <a:endParaRPr sz="695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334855" y="0"/>
            <a:ext cx="408940" cy="11293475"/>
            <a:chOff x="7334855" y="0"/>
            <a:chExt cx="408940" cy="112934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4855" y="0"/>
              <a:ext cx="408364" cy="1129284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4855" y="0"/>
              <a:ext cx="408364" cy="11292849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7978814" y="0"/>
            <a:ext cx="1563370" cy="11285220"/>
          </a:xfrm>
          <a:custGeom>
            <a:avLst/>
            <a:gdLst/>
            <a:ahLst/>
            <a:cxnLst/>
            <a:rect l="l" t="t" r="r" b="b"/>
            <a:pathLst>
              <a:path w="1563370" h="11285220">
                <a:moveTo>
                  <a:pt x="1562779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1562779" y="0"/>
                </a:lnTo>
                <a:lnTo>
                  <a:pt x="1562779" y="11284997"/>
                </a:lnTo>
                <a:close/>
              </a:path>
            </a:pathLst>
          </a:custGeom>
          <a:solidFill>
            <a:srgbClr val="0C0F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9785042" y="0"/>
            <a:ext cx="1688464" cy="11285220"/>
          </a:xfrm>
          <a:custGeom>
            <a:avLst/>
            <a:gdLst/>
            <a:ahLst/>
            <a:cxnLst/>
            <a:rect l="l" t="t" r="r" b="b"/>
            <a:pathLst>
              <a:path w="1688465" h="11285220">
                <a:moveTo>
                  <a:pt x="1688430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1688430" y="0"/>
                </a:lnTo>
                <a:lnTo>
                  <a:pt x="1688430" y="11284997"/>
                </a:lnTo>
                <a:close/>
              </a:path>
            </a:pathLst>
          </a:custGeom>
          <a:solidFill>
            <a:srgbClr val="0C0F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1701214" y="0"/>
            <a:ext cx="2992120" cy="11285220"/>
          </a:xfrm>
          <a:custGeom>
            <a:avLst/>
            <a:gdLst/>
            <a:ahLst/>
            <a:cxnLst/>
            <a:rect l="l" t="t" r="r" b="b"/>
            <a:pathLst>
              <a:path w="2992119" h="11285220">
                <a:moveTo>
                  <a:pt x="2992055" y="11284997"/>
                </a:moveTo>
                <a:lnTo>
                  <a:pt x="0" y="11284997"/>
                </a:lnTo>
                <a:lnTo>
                  <a:pt x="0" y="0"/>
                </a:lnTo>
                <a:lnTo>
                  <a:pt x="2992055" y="0"/>
                </a:lnTo>
                <a:lnTo>
                  <a:pt x="2992055" y="11284997"/>
                </a:lnTo>
                <a:close/>
              </a:path>
            </a:pathLst>
          </a:custGeom>
          <a:solidFill>
            <a:srgbClr val="0A0F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978373" y="4743044"/>
            <a:ext cx="6690995" cy="1066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150">
                <a:solidFill>
                  <a:srgbClr val="FFFFFF"/>
                </a:solidFill>
                <a:latin typeface="Arial MT"/>
                <a:cs typeface="Arial MT"/>
              </a:rPr>
              <a:t>XSS</a:t>
            </a:r>
            <a:r>
              <a:rPr dirty="0" sz="6150" spc="-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800" spc="250">
                <a:solidFill>
                  <a:srgbClr val="FFFFFF"/>
                </a:solidFill>
                <a:latin typeface="Calibri"/>
                <a:cs typeface="Calibri"/>
              </a:rPr>
              <a:t>Lobs</a:t>
            </a:r>
            <a:r>
              <a:rPr dirty="0" sz="68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6800" spc="95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6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9423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895260"/>
            <a:ext cx="20080605" cy="495300"/>
          </a:xfrm>
          <a:custGeom>
            <a:avLst/>
            <a:gdLst/>
            <a:ahLst/>
            <a:cxnLst/>
            <a:rect l="l" t="t" r="r" b="b"/>
            <a:pathLst>
              <a:path w="20080605" h="495300">
                <a:moveTo>
                  <a:pt x="20080541" y="494749"/>
                </a:moveTo>
                <a:lnTo>
                  <a:pt x="0" y="49474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9474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25"/>
              </a:spcBef>
            </a:pPr>
            <a:r>
              <a:rPr dirty="0" sz="5000" spc="-175"/>
              <a:t>Reflected </a:t>
            </a:r>
            <a:r>
              <a:rPr dirty="0" sz="5000" spc="-285"/>
              <a:t>vs.</a:t>
            </a:r>
            <a:r>
              <a:rPr dirty="0" sz="5000" spc="-330"/>
              <a:t> </a:t>
            </a:r>
            <a:r>
              <a:rPr dirty="0" sz="5000" spc="-95"/>
              <a:t>Stored</a:t>
            </a:r>
            <a:r>
              <a:rPr dirty="0" sz="5000" spc="-180"/>
              <a:t> </a:t>
            </a:r>
            <a:r>
              <a:rPr dirty="0" sz="5000" spc="-434"/>
              <a:t>XSS</a:t>
            </a:r>
            <a:endParaRPr sz="5000"/>
          </a:p>
        </p:txBody>
      </p:sp>
      <p:grpSp>
        <p:nvGrpSpPr>
          <p:cNvPr id="5" name="object 5" descr=""/>
          <p:cNvGrpSpPr/>
          <p:nvPr/>
        </p:nvGrpSpPr>
        <p:grpSpPr>
          <a:xfrm>
            <a:off x="15706" y="4507716"/>
            <a:ext cx="20080605" cy="573405"/>
            <a:chOff x="15706" y="4507716"/>
            <a:chExt cx="20080605" cy="57340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28262" y="4523422"/>
              <a:ext cx="1130855" cy="439777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5706" y="4507716"/>
              <a:ext cx="20080605" cy="573405"/>
            </a:xfrm>
            <a:custGeom>
              <a:avLst/>
              <a:gdLst/>
              <a:ahLst/>
              <a:cxnLst/>
              <a:rect l="l" t="t" r="r" b="b"/>
              <a:pathLst>
                <a:path w="20080605" h="573404">
                  <a:moveTo>
                    <a:pt x="20080541" y="573281"/>
                  </a:moveTo>
                  <a:lnTo>
                    <a:pt x="0" y="573281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573281"/>
                  </a:lnTo>
                  <a:close/>
                </a:path>
              </a:pathLst>
            </a:custGeom>
            <a:solidFill>
              <a:srgbClr val="0C13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584610" y="4661241"/>
            <a:ext cx="371221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85">
                <a:solidFill>
                  <a:srgbClr val="0FF289"/>
                </a:solidFill>
                <a:latin typeface="Arial MT"/>
                <a:cs typeface="Arial MT"/>
              </a:rPr>
              <a:t>Reflected</a:t>
            </a:r>
            <a:r>
              <a:rPr dirty="0" sz="2800" spc="265">
                <a:solidFill>
                  <a:srgbClr val="0FF289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13F990"/>
                </a:solidFill>
                <a:latin typeface="Arial MT"/>
                <a:cs typeface="Arial MT"/>
              </a:rPr>
              <a:t>XSS</a:t>
            </a:r>
            <a:r>
              <a:rPr dirty="0" sz="2800" spc="114">
                <a:solidFill>
                  <a:srgbClr val="13F990"/>
                </a:solidFill>
                <a:latin typeface="Arial MT"/>
                <a:cs typeface="Arial MT"/>
              </a:rPr>
              <a:t> </a:t>
            </a:r>
            <a:r>
              <a:rPr dirty="0" sz="2800" spc="95">
                <a:solidFill>
                  <a:srgbClr val="00EF79"/>
                </a:solidFill>
                <a:latin typeface="Arial MT"/>
                <a:cs typeface="Arial MT"/>
              </a:rPr>
              <a:t>(Lab</a:t>
            </a:r>
            <a:r>
              <a:rPr dirty="0" sz="2800" spc="-130">
                <a:solidFill>
                  <a:srgbClr val="00EF79"/>
                </a:solidFill>
                <a:latin typeface="Arial MT"/>
                <a:cs typeface="Arial MT"/>
              </a:rPr>
              <a:t> </a:t>
            </a:r>
            <a:r>
              <a:rPr dirty="0" sz="2800" spc="-110">
                <a:solidFill>
                  <a:srgbClr val="0CF987"/>
                </a:solidFill>
                <a:latin typeface="Arial MT"/>
                <a:cs typeface="Arial MT"/>
              </a:rPr>
              <a:t>1)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700809" y="4541480"/>
            <a:ext cx="40830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25">
                <a:solidFill>
                  <a:srgbClr val="E8913B"/>
                </a:solidFill>
                <a:latin typeface="Courier New"/>
                <a:cs typeface="Courier New"/>
              </a:rPr>
              <a:t>SS7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847762" y="4661241"/>
            <a:ext cx="3318510" cy="4578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spc="90">
                <a:solidFill>
                  <a:srgbClr val="16F08A"/>
                </a:solidFill>
                <a:latin typeface="Arial MT"/>
                <a:cs typeface="Arial MT"/>
              </a:rPr>
              <a:t>Stored</a:t>
            </a:r>
            <a:r>
              <a:rPr dirty="0" sz="2800" spc="175">
                <a:solidFill>
                  <a:srgbClr val="16F08A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18ED90"/>
                </a:solidFill>
                <a:latin typeface="Arial MT"/>
                <a:cs typeface="Arial MT"/>
              </a:rPr>
              <a:t>XSS</a:t>
            </a:r>
            <a:r>
              <a:rPr dirty="0" sz="2800" spc="110">
                <a:solidFill>
                  <a:srgbClr val="18ED90"/>
                </a:solidFill>
                <a:latin typeface="Arial MT"/>
                <a:cs typeface="Arial MT"/>
              </a:rPr>
              <a:t> </a:t>
            </a:r>
            <a:r>
              <a:rPr dirty="0" sz="2800" spc="95">
                <a:solidFill>
                  <a:srgbClr val="00FD80"/>
                </a:solidFill>
                <a:latin typeface="Arial MT"/>
                <a:cs typeface="Arial MT"/>
              </a:rPr>
              <a:t>(Lab</a:t>
            </a:r>
            <a:r>
              <a:rPr dirty="0" sz="2800" spc="85">
                <a:solidFill>
                  <a:srgbClr val="00FD80"/>
                </a:solidFill>
                <a:latin typeface="Arial MT"/>
                <a:cs typeface="Arial MT"/>
              </a:rPr>
              <a:t> </a:t>
            </a:r>
            <a:r>
              <a:rPr dirty="0" sz="2800" spc="60">
                <a:solidFill>
                  <a:srgbClr val="11F68C"/>
                </a:solidFill>
                <a:latin typeface="Arial MT"/>
                <a:cs typeface="Arial MT"/>
              </a:rPr>
              <a:t>2)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5706" y="5402976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590182" y="5292112"/>
            <a:ext cx="663130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25">
                <a:solidFill>
                  <a:srgbClr val="9E9E9E"/>
                </a:solidFill>
                <a:latin typeface="Arial MT"/>
                <a:cs typeface="Arial MT"/>
              </a:rPr>
              <a:t>Dynamic</a:t>
            </a:r>
            <a:r>
              <a:rPr dirty="0" sz="2300" spc="-2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85">
                <a:solidFill>
                  <a:srgbClr val="A1A1A1"/>
                </a:solidFill>
                <a:latin typeface="Arial MT"/>
                <a:cs typeface="Arial MT"/>
              </a:rPr>
              <a:t>payload</a:t>
            </a:r>
            <a:r>
              <a:rPr dirty="0" sz="2300" spc="-6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90">
                <a:solidFill>
                  <a:srgbClr val="9E9E9E"/>
                </a:solidFill>
                <a:latin typeface="Arial MT"/>
                <a:cs typeface="Arial MT"/>
              </a:rPr>
              <a:t>injected</a:t>
            </a:r>
            <a:r>
              <a:rPr dirty="0" sz="2300" spc="8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110">
                <a:solidFill>
                  <a:srgbClr val="9A9A9A"/>
                </a:solidFill>
                <a:latin typeface="Arial MT"/>
                <a:cs typeface="Arial MT"/>
              </a:rPr>
              <a:t>via</a:t>
            </a:r>
            <a:r>
              <a:rPr dirty="0" sz="2300" spc="-4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300" spc="-320">
                <a:solidFill>
                  <a:srgbClr val="9A9A9A"/>
                </a:solidFill>
                <a:latin typeface="Arial MT"/>
                <a:cs typeface="Arial MT"/>
              </a:rPr>
              <a:t>GET</a:t>
            </a:r>
            <a:r>
              <a:rPr dirty="0" sz="2300" spc="155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300" spc="-125">
                <a:solidFill>
                  <a:srgbClr val="A0A0A0"/>
                </a:solidFill>
                <a:latin typeface="Arial MT"/>
                <a:cs typeface="Arial MT"/>
              </a:rPr>
              <a:t>parameters</a:t>
            </a:r>
            <a:r>
              <a:rPr dirty="0" sz="2300" spc="7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300" spc="-80">
                <a:solidFill>
                  <a:srgbClr val="A0A0A0"/>
                </a:solidFill>
                <a:latin typeface="Arial MT"/>
                <a:cs typeface="Arial MT"/>
              </a:rPr>
              <a:t>executes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841212" y="5292112"/>
            <a:ext cx="680593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083175" algn="l"/>
              </a:tabLst>
            </a:pPr>
            <a:r>
              <a:rPr dirty="0" sz="2300" spc="-125">
                <a:solidFill>
                  <a:srgbClr val="A1A1A1"/>
                </a:solidFill>
                <a:latin typeface="Arial MT"/>
                <a:cs typeface="Arial MT"/>
              </a:rPr>
              <a:t>Dynamic</a:t>
            </a:r>
            <a:r>
              <a:rPr dirty="0" sz="2300" spc="6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95">
                <a:solidFill>
                  <a:srgbClr val="A0A0A0"/>
                </a:solidFill>
                <a:latin typeface="Arial MT"/>
                <a:cs typeface="Arial MT"/>
              </a:rPr>
              <a:t>malicious</a:t>
            </a:r>
            <a:r>
              <a:rPr dirty="0" sz="2300" spc="-3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300" spc="-95">
                <a:solidFill>
                  <a:srgbClr val="A0A0A0"/>
                </a:solidFill>
                <a:latin typeface="Arial MT"/>
                <a:cs typeface="Arial MT"/>
              </a:rPr>
              <a:t>strinp</a:t>
            </a:r>
            <a:r>
              <a:rPr dirty="0" sz="2300" spc="-4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solidFill>
                  <a:srgbClr val="979797"/>
                </a:solidFill>
                <a:latin typeface="Arial MT"/>
                <a:cs typeface="Arial MT"/>
              </a:rPr>
              <a:t>pets</a:t>
            </a:r>
            <a:r>
              <a:rPr dirty="0" sz="2300" spc="-85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0A0A0"/>
                </a:solidFill>
                <a:latin typeface="Arial MT"/>
                <a:cs typeface="Arial MT"/>
              </a:rPr>
              <a:t>persistently</a:t>
            </a:r>
            <a:r>
              <a:rPr dirty="0" sz="2300">
                <a:solidFill>
                  <a:srgbClr val="A0A0A0"/>
                </a:solidFill>
                <a:latin typeface="Arial MT"/>
                <a:cs typeface="Arial MT"/>
              </a:rPr>
              <a:t>	</a:t>
            </a:r>
            <a:r>
              <a:rPr dirty="0" sz="2300" spc="-90">
                <a:solidFill>
                  <a:srgbClr val="9C9C9C"/>
                </a:solidFill>
                <a:latin typeface="Arial MT"/>
                <a:cs typeface="Arial MT"/>
              </a:rPr>
              <a:t>stored</a:t>
            </a:r>
            <a:r>
              <a:rPr dirty="0" sz="2300" spc="10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300" spc="-95">
                <a:solidFill>
                  <a:srgbClr val="A1A1A1"/>
                </a:solidFill>
                <a:latin typeface="Arial MT"/>
                <a:cs typeface="Arial MT"/>
              </a:rPr>
              <a:t>within</a:t>
            </a:r>
            <a:r>
              <a:rPr dirty="0" sz="2300" spc="-6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420">
                <a:solidFill>
                  <a:srgbClr val="999999"/>
                </a:solidFill>
                <a:latin typeface="Arial MT"/>
                <a:cs typeface="Arial MT"/>
              </a:rPr>
              <a:t>a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5706" y="5779928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595521" y="5701785"/>
            <a:ext cx="716724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A0A0A0"/>
                </a:solidFill>
                <a:latin typeface="Arial MT"/>
                <a:cs typeface="Arial MT"/>
              </a:rPr>
              <a:t>instantly</a:t>
            </a:r>
            <a:r>
              <a:rPr dirty="0" sz="2050" spc="240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E9E9E"/>
                </a:solidFill>
                <a:latin typeface="Arial MT"/>
                <a:cs typeface="Arial MT"/>
              </a:rPr>
              <a:t>upon</a:t>
            </a:r>
            <a:r>
              <a:rPr dirty="0" sz="2050" spc="5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8A8A8"/>
                </a:solidFill>
                <a:latin typeface="Arial MT"/>
                <a:cs typeface="Arial MT"/>
              </a:rPr>
              <a:t>loading.</a:t>
            </a:r>
            <a:r>
              <a:rPr dirty="0" sz="2050" spc="19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C9C9C"/>
                </a:solidFill>
                <a:latin typeface="Arial MT"/>
                <a:cs typeface="Arial MT"/>
              </a:rPr>
              <a:t>There</a:t>
            </a:r>
            <a:r>
              <a:rPr dirty="0" sz="2050" spc="5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E9E9E"/>
                </a:solidFill>
                <a:latin typeface="Arial MT"/>
                <a:cs typeface="Arial MT"/>
              </a:rPr>
              <a:t>is</a:t>
            </a:r>
            <a:r>
              <a:rPr dirty="0" sz="2050" spc="3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AAAAA"/>
                </a:solidFill>
                <a:latin typeface="Arial MT"/>
                <a:cs typeface="Arial MT"/>
              </a:rPr>
              <a:t>zero</a:t>
            </a:r>
            <a:r>
              <a:rPr dirty="0" sz="2050" spc="17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C9C9C"/>
                </a:solidFill>
                <a:latin typeface="Arial MT"/>
                <a:cs typeface="Arial MT"/>
              </a:rPr>
              <a:t>server</a:t>
            </a:r>
            <a:r>
              <a:rPr dirty="0" sz="2050" spc="16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0A0A0"/>
                </a:solidFill>
                <a:latin typeface="Arial MT"/>
                <a:cs typeface="Arial MT"/>
              </a:rPr>
              <a:t>persistence,</a:t>
            </a:r>
            <a:r>
              <a:rPr dirty="0" sz="2050" spc="280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9A9A9A"/>
                </a:solidFill>
                <a:latin typeface="Arial MT"/>
                <a:cs typeface="Arial MT"/>
              </a:rPr>
              <a:t>and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0847126" y="5701785"/>
            <a:ext cx="763714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9E9E9E"/>
                </a:solidFill>
                <a:latin typeface="Arial MT"/>
                <a:cs typeface="Arial MT"/>
              </a:rPr>
              <a:t>database</a:t>
            </a:r>
            <a:r>
              <a:rPr dirty="0" sz="2050" spc="10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050" spc="-75">
                <a:solidFill>
                  <a:srgbClr val="A8A8A8"/>
                </a:solidFill>
                <a:latin typeface="Arial MT"/>
                <a:cs typeface="Arial MT"/>
              </a:rPr>
              <a:t>(e.</a:t>
            </a:r>
            <a:r>
              <a:rPr dirty="0" sz="2050" spc="-38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3A3A3"/>
                </a:solidFill>
                <a:latin typeface="Arial MT"/>
                <a:cs typeface="Arial MT"/>
              </a:rPr>
              <a:t>g.</a:t>
            </a:r>
            <a:r>
              <a:rPr dirty="0" sz="2050" spc="7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C9C9C"/>
                </a:solidFill>
                <a:latin typeface="Arial MT"/>
                <a:cs typeface="Arial MT"/>
              </a:rPr>
              <a:t>user</a:t>
            </a:r>
            <a:r>
              <a:rPr dirty="0" sz="2050" spc="114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9A9A9A"/>
                </a:solidFill>
                <a:latin typeface="Arial MT"/>
                <a:cs typeface="Arial MT"/>
              </a:rPr>
              <a:t>co</a:t>
            </a:r>
            <a:r>
              <a:rPr dirty="0" sz="2050" spc="-37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1A1A1"/>
                </a:solidFill>
                <a:latin typeface="Arial MT"/>
                <a:cs typeface="Arial MT"/>
              </a:rPr>
              <a:t>mm</a:t>
            </a:r>
            <a:r>
              <a:rPr dirty="0" sz="2050">
                <a:solidFill>
                  <a:srgbClr val="9C9C9C"/>
                </a:solidFill>
                <a:latin typeface="Arial MT"/>
                <a:cs typeface="Arial MT"/>
              </a:rPr>
              <a:t>ents</a:t>
            </a:r>
            <a:r>
              <a:rPr dirty="0" sz="2050" spc="80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C9C9C"/>
                </a:solidFill>
                <a:latin typeface="Arial MT"/>
                <a:cs typeface="Arial MT"/>
              </a:rPr>
              <a:t>section).</a:t>
            </a:r>
            <a:r>
              <a:rPr dirty="0" sz="2050" spc="12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9E9E9E"/>
                </a:solidFill>
                <a:latin typeface="Arial MT"/>
                <a:cs typeface="Arial MT"/>
              </a:rPr>
              <a:t>Executed</a:t>
            </a:r>
            <a:r>
              <a:rPr dirty="0" sz="2050" spc="16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A0A0A0"/>
                </a:solidFill>
                <a:latin typeface="Arial MT"/>
                <a:cs typeface="Arial MT"/>
              </a:rPr>
              <a:t>universally</a:t>
            </a:r>
            <a:r>
              <a:rPr dirty="0" sz="2050" spc="22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050" spc="-25">
                <a:solidFill>
                  <a:srgbClr val="9E9E9E"/>
                </a:solidFill>
                <a:latin typeface="Arial MT"/>
                <a:cs typeface="Arial MT"/>
              </a:rPr>
              <a:t>fo</a:t>
            </a:r>
            <a:r>
              <a:rPr dirty="0" sz="2050" spc="-25">
                <a:solidFill>
                  <a:srgbClr val="979797"/>
                </a:solidFill>
                <a:latin typeface="Arial MT"/>
                <a:cs typeface="Arial MT"/>
              </a:rPr>
              <a:t>r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5706" y="6156880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601310" y="6046016"/>
            <a:ext cx="587438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513840" algn="l"/>
              </a:tabLst>
            </a:pPr>
            <a:r>
              <a:rPr dirty="0" sz="2300" spc="-35">
                <a:solidFill>
                  <a:srgbClr val="A1A1A1"/>
                </a:solidFill>
                <a:latin typeface="Arial MT"/>
                <a:cs typeface="Arial MT"/>
              </a:rPr>
              <a:t>vulnerability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	</a:t>
            </a:r>
            <a:r>
              <a:rPr dirty="0" sz="2300" spc="-120">
                <a:solidFill>
                  <a:srgbClr val="A1A1A1"/>
                </a:solidFill>
                <a:latin typeface="Arial MT"/>
                <a:cs typeface="Arial MT"/>
              </a:rPr>
              <a:t>depends</a:t>
            </a:r>
            <a:r>
              <a:rPr dirty="0" sz="2300" spc="-4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85">
                <a:solidFill>
                  <a:srgbClr val="9E9E9E"/>
                </a:solidFill>
                <a:latin typeface="Arial MT"/>
                <a:cs typeface="Arial MT"/>
              </a:rPr>
              <a:t>entirely</a:t>
            </a:r>
            <a:r>
              <a:rPr dirty="0" sz="2300" spc="2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114">
                <a:solidFill>
                  <a:srgbClr val="9C9C9C"/>
                </a:solidFill>
                <a:latin typeface="Arial MT"/>
                <a:cs typeface="Arial MT"/>
              </a:rPr>
              <a:t>on</a:t>
            </a:r>
            <a:r>
              <a:rPr dirty="0" sz="2300" spc="-4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300" spc="-330">
                <a:solidFill>
                  <a:srgbClr val="979797"/>
                </a:solidFill>
                <a:latin typeface="Arial MT"/>
                <a:cs typeface="Arial MT"/>
              </a:rPr>
              <a:t>URL</a:t>
            </a:r>
            <a:r>
              <a:rPr dirty="0" sz="2300" spc="175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300" spc="-120">
                <a:solidFill>
                  <a:srgbClr val="A3A3A3"/>
                </a:solidFill>
                <a:latin typeface="Arial MT"/>
                <a:cs typeface="Arial MT"/>
              </a:rPr>
              <a:t>parameters.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845438" y="6046016"/>
            <a:ext cx="3602354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35">
                <a:solidFill>
                  <a:srgbClr val="9A9A9A"/>
                </a:solidFill>
                <a:latin typeface="Arial MT"/>
                <a:cs typeface="Arial MT"/>
              </a:rPr>
              <a:t>all</a:t>
            </a:r>
            <a:r>
              <a:rPr dirty="0" sz="2300" spc="-6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solidFill>
                  <a:srgbClr val="A1A1A1"/>
                </a:solidFill>
                <a:latin typeface="Arial MT"/>
                <a:cs typeface="Arial MT"/>
              </a:rPr>
              <a:t>visitors,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114">
                <a:solidFill>
                  <a:srgbClr val="A1A1A1"/>
                </a:solidFill>
                <a:latin typeface="Arial MT"/>
                <a:cs typeface="Arial MT"/>
              </a:rPr>
              <a:t>escalating</a:t>
            </a:r>
            <a:r>
              <a:rPr dirty="0" sz="2300" spc="5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90">
                <a:solidFill>
                  <a:srgbClr val="A7A7A7"/>
                </a:solidFill>
                <a:latin typeface="Arial MT"/>
                <a:cs typeface="Arial MT"/>
              </a:rPr>
              <a:t>severity.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15706" y="7099260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5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C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2705252" y="7055147"/>
            <a:ext cx="268541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3540" algn="l"/>
              </a:tabLst>
            </a:pP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ale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EFEFEF"/>
                </a:solidFill>
                <a:latin typeface="Arial MT"/>
                <a:cs typeface="Arial MT"/>
              </a:rPr>
              <a:t>r</a:t>
            </a:r>
            <a:r>
              <a:rPr dirty="0" sz="1550" spc="10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311C08"/>
                </a:solidFill>
                <a:latin typeface="Arial MT"/>
                <a:cs typeface="Arial MT"/>
              </a:rPr>
              <a:t>t</a:t>
            </a:r>
            <a:r>
              <a:rPr dirty="0" sz="1550" spc="225">
                <a:solidFill>
                  <a:srgbClr val="311C08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7E7060"/>
                </a:solidFill>
                <a:latin typeface="Arial MT"/>
                <a:cs typeface="Arial MT"/>
              </a:rPr>
              <a:t>(</a:t>
            </a:r>
            <a:r>
              <a:rPr dirty="0" sz="1550" spc="-165">
                <a:solidFill>
                  <a:srgbClr val="7E7060"/>
                </a:solidFill>
                <a:latin typeface="Arial MT"/>
                <a:cs typeface="Arial MT"/>
              </a:rPr>
              <a:t> </a:t>
            </a:r>
            <a:r>
              <a:rPr dirty="0" sz="1550" spc="60">
                <a:solidFill>
                  <a:srgbClr val="F4F4F4"/>
                </a:solidFill>
                <a:latin typeface="Arial MT"/>
                <a:cs typeface="Arial MT"/>
              </a:rPr>
              <a:t>document</a:t>
            </a:r>
            <a:r>
              <a:rPr dirty="0" sz="1550" spc="125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BEBEB"/>
                </a:solidFill>
                <a:latin typeface="Arial MT"/>
                <a:cs typeface="Arial MT"/>
              </a:rPr>
              <a:t>.</a:t>
            </a:r>
            <a:r>
              <a:rPr dirty="0" sz="1550" spc="-14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550" spc="180">
                <a:solidFill>
                  <a:srgbClr val="FFFFFF"/>
                </a:solidFill>
                <a:latin typeface="Arial MT"/>
                <a:cs typeface="Arial MT"/>
              </a:rPr>
              <a:t>cookie</a:t>
            </a:r>
            <a:r>
              <a:rPr dirty="0" sz="1550" spc="-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E8E8E8"/>
                </a:solidFill>
                <a:latin typeface="Arial MT"/>
                <a:cs typeface="Arial MT"/>
              </a:rPr>
              <a:t>)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1965189" y="7055147"/>
            <a:ext cx="169545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r>
              <a:rPr dirty="0" sz="1550" spc="3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sz="15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2F2F2"/>
                </a:solidFill>
                <a:latin typeface="Arial MT"/>
                <a:cs typeface="Arial MT"/>
              </a:rPr>
              <a:t>n</a:t>
            </a:r>
            <a:r>
              <a:rPr dirty="0" sz="1550" spc="-245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te</a:t>
            </a:r>
            <a:r>
              <a:rPr dirty="0" sz="155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280">
                <a:solidFill>
                  <a:srgbClr val="F4F4F4"/>
                </a:solidFill>
                <a:latin typeface="Arial MT"/>
                <a:cs typeface="Arial MT"/>
              </a:rPr>
              <a:t>rvat(</a:t>
            </a:r>
            <a:r>
              <a:rPr dirty="0" sz="1550" spc="-5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EDEDED"/>
                </a:solidFill>
                <a:latin typeface="Arial MT"/>
                <a:cs typeface="Arial MT"/>
              </a:rPr>
              <a:t>(</a:t>
            </a:r>
            <a:r>
              <a:rPr dirty="0" sz="1550" spc="4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F2F2F2"/>
                </a:solidFill>
                <a:latin typeface="Arial MT"/>
                <a:cs typeface="Arial MT"/>
              </a:rPr>
              <a:t>)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3790083" y="7055147"/>
            <a:ext cx="316484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8620" algn="l"/>
                <a:tab pos="633730" algn="l"/>
                <a:tab pos="1746885" algn="l"/>
                <a:tab pos="1981835" algn="l"/>
                <a:tab pos="2348230" algn="l"/>
              </a:tabLst>
            </a:pPr>
            <a:r>
              <a:rPr dirty="0" sz="1550" spc="-25">
                <a:solidFill>
                  <a:srgbClr val="F0F0F0"/>
                </a:solidFill>
                <a:latin typeface="Arial MT"/>
                <a:cs typeface="Arial MT"/>
              </a:rPr>
              <a:t>=&gt;</a:t>
            </a:r>
            <a:r>
              <a:rPr dirty="0" sz="1550">
                <a:solidFill>
                  <a:srgbClr val="F0F0F0"/>
                </a:solidFill>
                <a:latin typeface="Arial MT"/>
                <a:cs typeface="Arial MT"/>
              </a:rPr>
              <a:t>	</a:t>
            </a:r>
            <a:r>
              <a:rPr dirty="0" sz="1550" spc="-50">
                <a:solidFill>
                  <a:srgbClr val="261600"/>
                </a:solidFill>
                <a:latin typeface="Arial MT"/>
                <a:cs typeface="Arial MT"/>
              </a:rPr>
              <a:t>(</a:t>
            </a:r>
            <a:r>
              <a:rPr dirty="0" sz="1550">
                <a:solidFill>
                  <a:srgbClr val="261600"/>
                </a:solidFill>
                <a:latin typeface="Arial MT"/>
                <a:cs typeface="Arial MT"/>
              </a:rPr>
              <a:t>	</a:t>
            </a:r>
            <a:r>
              <a:rPr dirty="0" sz="1550" spc="260">
                <a:solidFill>
                  <a:srgbClr val="FFFFFF"/>
                </a:solidFill>
                <a:latin typeface="Arial MT"/>
                <a:cs typeface="Arial MT"/>
              </a:rPr>
              <a:t>fetch</a:t>
            </a:r>
            <a:r>
              <a:rPr dirty="0" sz="155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61616"/>
                </a:solidFill>
                <a:latin typeface="Arial MT"/>
                <a:cs typeface="Arial MT"/>
              </a:rPr>
              <a:t>(</a:t>
            </a:r>
            <a:r>
              <a:rPr dirty="0" sz="1550" spc="7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FFFFFF"/>
                </a:solidFill>
                <a:latin typeface="Arial MT"/>
                <a:cs typeface="Arial MT"/>
              </a:rPr>
              <a:t>...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550" spc="-50">
                <a:solidFill>
                  <a:srgbClr val="E9E9E9"/>
                </a:solidFill>
                <a:latin typeface="Arial MT"/>
                <a:cs typeface="Arial MT"/>
              </a:rPr>
              <a:t>)</a:t>
            </a:r>
            <a:r>
              <a:rPr dirty="0" sz="1550">
                <a:solidFill>
                  <a:srgbClr val="E9E9E9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EDEDED"/>
                </a:solidFill>
                <a:latin typeface="Arial MT"/>
                <a:cs typeface="Arial MT"/>
              </a:rPr>
              <a:t>} </a:t>
            </a:r>
            <a:r>
              <a:rPr dirty="0" sz="1550" spc="-50">
                <a:solidFill>
                  <a:srgbClr val="F2F2F2"/>
                </a:solidFill>
                <a:latin typeface="Arial MT"/>
                <a:cs typeface="Arial MT"/>
              </a:rPr>
              <a:t>,</a:t>
            </a:r>
            <a:r>
              <a:rPr dirty="0" sz="1550">
                <a:solidFill>
                  <a:srgbClr val="F2F2F2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F6F6F6"/>
                </a:solidFill>
                <a:latin typeface="Arial MT"/>
                <a:cs typeface="Arial MT"/>
              </a:rPr>
              <a:t>6õõõõ</a:t>
            </a:r>
            <a:r>
              <a:rPr dirty="0" sz="1550" spc="-5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240808"/>
                </a:solidFill>
                <a:latin typeface="Arial MT"/>
                <a:cs typeface="Arial MT"/>
              </a:rPr>
              <a:t>)</a:t>
            </a:r>
            <a:r>
              <a:rPr dirty="0" sz="1550" spc="125">
                <a:solidFill>
                  <a:srgbClr val="240808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EDEDED"/>
                </a:solidFill>
                <a:latin typeface="Arial MT"/>
                <a:cs typeface="Arial MT"/>
              </a:rPr>
              <a:t>;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176" y="3235503"/>
            <a:ext cx="8622774" cy="596840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59" y="0"/>
            <a:ext cx="20056981" cy="9423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5706" y="895260"/>
            <a:ext cx="20080605" cy="495300"/>
          </a:xfrm>
          <a:custGeom>
            <a:avLst/>
            <a:gdLst/>
            <a:ahLst/>
            <a:cxnLst/>
            <a:rect l="l" t="t" r="r" b="b"/>
            <a:pathLst>
              <a:path w="20080605" h="495300">
                <a:moveTo>
                  <a:pt x="20080541" y="494749"/>
                </a:moveTo>
                <a:lnTo>
                  <a:pt x="0" y="49474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9474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95"/>
              </a:spcBef>
            </a:pPr>
            <a:r>
              <a:rPr dirty="0" sz="4900" spc="-175">
                <a:solidFill>
                  <a:srgbClr val="F6F6F6"/>
                </a:solidFill>
              </a:rPr>
              <a:t>DOM</a:t>
            </a:r>
            <a:r>
              <a:rPr dirty="0" sz="4900" spc="-170">
                <a:solidFill>
                  <a:srgbClr val="F6F6F6"/>
                </a:solidFill>
              </a:rPr>
              <a:t> </a:t>
            </a:r>
            <a:r>
              <a:rPr dirty="0" sz="4900" spc="-330"/>
              <a:t>XSS</a:t>
            </a:r>
            <a:r>
              <a:rPr dirty="0" sz="4900" spc="-95"/>
              <a:t> </a:t>
            </a:r>
            <a:r>
              <a:rPr dirty="0" sz="4900" spc="-105">
                <a:solidFill>
                  <a:srgbClr val="F4F4F4"/>
                </a:solidFill>
              </a:rPr>
              <a:t>&amp;</a:t>
            </a:r>
            <a:r>
              <a:rPr dirty="0" sz="4900" spc="-330">
                <a:solidFill>
                  <a:srgbClr val="F4F4F4"/>
                </a:solidFill>
              </a:rPr>
              <a:t> </a:t>
            </a:r>
            <a:r>
              <a:rPr dirty="0" sz="4900" spc="-150"/>
              <a:t>Filter</a:t>
            </a:r>
            <a:r>
              <a:rPr dirty="0" sz="4900" spc="-155"/>
              <a:t> </a:t>
            </a:r>
            <a:r>
              <a:rPr dirty="0" sz="4900" spc="-265"/>
              <a:t>Evasion</a:t>
            </a:r>
            <a:endParaRPr sz="4900"/>
          </a:p>
        </p:txBody>
      </p:sp>
      <p:sp>
        <p:nvSpPr>
          <p:cNvPr id="6" name="object 6" descr=""/>
          <p:cNvSpPr txBox="1"/>
          <p:nvPr/>
        </p:nvSpPr>
        <p:spPr>
          <a:xfrm>
            <a:off x="1115149" y="3235503"/>
            <a:ext cx="8552180" cy="5960745"/>
          </a:xfrm>
          <a:prstGeom prst="rect">
            <a:avLst/>
          </a:prstGeom>
          <a:solidFill>
            <a:srgbClr val="0C1116"/>
          </a:solidFill>
        </p:spPr>
        <p:txBody>
          <a:bodyPr wrap="square" lIns="0" tIns="4051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90"/>
              </a:spcBef>
            </a:pP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2800">
                <a:solidFill>
                  <a:srgbClr val="59A3F6"/>
                </a:solidFill>
                <a:latin typeface="Arial MT"/>
                <a:cs typeface="Arial MT"/>
              </a:rPr>
              <a:t>Bypassing</a:t>
            </a:r>
            <a:r>
              <a:rPr dirty="0" sz="2800" spc="340">
                <a:solidFill>
                  <a:srgbClr val="59A3F6"/>
                </a:solidFill>
                <a:latin typeface="Arial MT"/>
                <a:cs typeface="Arial MT"/>
              </a:rPr>
              <a:t> </a:t>
            </a:r>
            <a:r>
              <a:rPr dirty="0" sz="2800">
                <a:solidFill>
                  <a:srgbClr val="7BA8E4"/>
                </a:solidFill>
                <a:latin typeface="Arial MT"/>
                <a:cs typeface="Arial MT"/>
              </a:rPr>
              <a:t>Filters</a:t>
            </a:r>
            <a:r>
              <a:rPr dirty="0" sz="2800" spc="160">
                <a:solidFill>
                  <a:srgbClr val="7BA8E4"/>
                </a:solidFill>
                <a:latin typeface="Arial MT"/>
                <a:cs typeface="Arial MT"/>
              </a:rPr>
              <a:t> </a:t>
            </a:r>
            <a:r>
              <a:rPr dirty="0" sz="2800" spc="145">
                <a:solidFill>
                  <a:srgbClr val="5DA7FF"/>
                </a:solidFill>
                <a:latin typeface="Arial MT"/>
                <a:cs typeface="Arial MT"/>
              </a:rPr>
              <a:t>&amp;</a:t>
            </a:r>
            <a:r>
              <a:rPr dirty="0" sz="2800" spc="105">
                <a:solidFill>
                  <a:srgbClr val="5DA7FF"/>
                </a:solidFill>
                <a:latin typeface="Arial MT"/>
                <a:cs typeface="Arial MT"/>
              </a:rPr>
              <a:t> </a:t>
            </a:r>
            <a:r>
              <a:rPr dirty="0" sz="2800" spc="75">
                <a:solidFill>
                  <a:srgbClr val="64A3E4"/>
                </a:solidFill>
                <a:latin typeface="Arial MT"/>
                <a:cs typeface="Arial MT"/>
              </a:rPr>
              <a:t>Dynamic</a:t>
            </a:r>
            <a:r>
              <a:rPr dirty="0" sz="2800" spc="475">
                <a:solidFill>
                  <a:srgbClr val="64A3E4"/>
                </a:solidFill>
                <a:latin typeface="Arial MT"/>
                <a:cs typeface="Arial MT"/>
              </a:rPr>
              <a:t> </a:t>
            </a:r>
            <a:r>
              <a:rPr dirty="0" sz="2800" spc="-10">
                <a:solidFill>
                  <a:srgbClr val="549EDB"/>
                </a:solidFill>
                <a:latin typeface="Arial MT"/>
                <a:cs typeface="Arial MT"/>
              </a:rPr>
              <a:t>Sinks</a:t>
            </a:r>
            <a:endParaRPr sz="2800">
              <a:latin typeface="Arial MT"/>
              <a:cs typeface="Arial MT"/>
            </a:endParaRPr>
          </a:p>
          <a:p>
            <a:pPr marL="379095" marR="781050" indent="-10795">
              <a:lnSpc>
                <a:spcPts val="2600"/>
              </a:lnSpc>
              <a:spcBef>
                <a:spcPts val="1565"/>
              </a:spcBef>
            </a:pPr>
            <a:r>
              <a:rPr dirty="0" sz="2200">
                <a:solidFill>
                  <a:srgbClr val="DFDFDF"/>
                </a:solidFill>
                <a:latin typeface="Calibri"/>
                <a:cs typeface="Calibri"/>
              </a:rPr>
              <a:t>DOM-Based</a:t>
            </a:r>
            <a:r>
              <a:rPr dirty="0" sz="2200" spc="-3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BDBDB"/>
                </a:solidFill>
                <a:latin typeface="Calibri"/>
                <a:cs typeface="Calibri"/>
              </a:rPr>
              <a:t>Flaws:</a:t>
            </a:r>
            <a:r>
              <a:rPr dirty="0" sz="2200" spc="7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DDDDD"/>
                </a:solidFill>
                <a:latin typeface="Calibri"/>
                <a:cs typeface="Calibri"/>
              </a:rPr>
              <a:t>Arise</a:t>
            </a:r>
            <a:r>
              <a:rPr dirty="0" sz="2200" spc="8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D4D4D4"/>
                </a:solidFill>
                <a:latin typeface="Calibri"/>
                <a:cs typeface="Calibri"/>
              </a:rPr>
              <a:t>when</a:t>
            </a:r>
            <a:r>
              <a:rPr dirty="0" sz="2200" spc="35">
                <a:solidFill>
                  <a:srgbClr val="D4D4D4"/>
                </a:solidFill>
                <a:latin typeface="Calibri"/>
                <a:cs typeface="Calibri"/>
              </a:rPr>
              <a:t> </a:t>
            </a:r>
            <a:r>
              <a:rPr dirty="0" sz="2200" spc="-40">
                <a:solidFill>
                  <a:srgbClr val="DDDDDD"/>
                </a:solidFill>
                <a:latin typeface="Calibri"/>
                <a:cs typeface="Calibri"/>
              </a:rPr>
              <a:t>dynamic</a:t>
            </a:r>
            <a:r>
              <a:rPr dirty="0" sz="2200" spc="175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E1E1E1"/>
                </a:solidFill>
                <a:latin typeface="Calibri"/>
                <a:cs typeface="Calibri"/>
              </a:rPr>
              <a:t>user</a:t>
            </a:r>
            <a:r>
              <a:rPr dirty="0" sz="2200" spc="35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DFDFDF"/>
                </a:solidFill>
                <a:latin typeface="Calibri"/>
                <a:cs typeface="Calibri"/>
              </a:rPr>
              <a:t>inputs</a:t>
            </a:r>
            <a:r>
              <a:rPr dirty="0" sz="2200" spc="5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3D3D3"/>
                </a:solidFill>
                <a:latin typeface="Calibri"/>
                <a:cs typeface="Calibri"/>
              </a:rPr>
              <a:t>are</a:t>
            </a:r>
            <a:r>
              <a:rPr dirty="0" sz="2200" spc="40">
                <a:solidFill>
                  <a:srgbClr val="D3D3D3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E4E4E4"/>
                </a:solidFill>
                <a:latin typeface="Calibri"/>
                <a:cs typeface="Calibri"/>
              </a:rPr>
              <a:t>executed </a:t>
            </a:r>
            <a:r>
              <a:rPr dirty="0" sz="2200">
                <a:solidFill>
                  <a:srgbClr val="DFDFDF"/>
                </a:solidFill>
                <a:latin typeface="Calibri"/>
                <a:cs typeface="Calibri"/>
              </a:rPr>
              <a:t>directly</a:t>
            </a:r>
            <a:r>
              <a:rPr dirty="0" sz="2200" spc="-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FDFDF"/>
                </a:solidFill>
                <a:latin typeface="Calibri"/>
                <a:cs typeface="Calibri"/>
              </a:rPr>
              <a:t>inside</a:t>
            </a:r>
            <a:r>
              <a:rPr dirty="0" sz="2200" spc="9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E6E6E6"/>
                </a:solidFill>
                <a:latin typeface="Calibri"/>
                <a:cs typeface="Calibri"/>
              </a:rPr>
              <a:t>insecure</a:t>
            </a:r>
            <a:r>
              <a:rPr dirty="0" sz="2200" spc="210">
                <a:solidFill>
                  <a:srgbClr val="E6E6E6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E1E1E1"/>
                </a:solidFill>
                <a:latin typeface="Calibri"/>
                <a:cs typeface="Calibri"/>
              </a:rPr>
              <a:t>JavaScript</a:t>
            </a:r>
            <a:r>
              <a:rPr dirty="0" sz="2200" spc="165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DDDDD"/>
                </a:solidFill>
                <a:latin typeface="Calibri"/>
                <a:cs typeface="Calibri"/>
              </a:rPr>
              <a:t>sinks</a:t>
            </a:r>
            <a:r>
              <a:rPr dirty="0" sz="2200" spc="14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 spc="-30">
                <a:solidFill>
                  <a:srgbClr val="E1E1E1"/>
                </a:solidFill>
                <a:latin typeface="Calibri"/>
                <a:cs typeface="Calibri"/>
              </a:rPr>
              <a:t>(e.g.,</a:t>
            </a:r>
            <a:r>
              <a:rPr dirty="0" sz="2200">
                <a:solidFill>
                  <a:srgbClr val="E1E1E1"/>
                </a:solidFill>
                <a:latin typeface="Calibri"/>
                <a:cs typeface="Calibri"/>
              </a:rPr>
              <a:t> </a:t>
            </a:r>
            <a:r>
              <a:rPr dirty="0" sz="2200" spc="-260">
                <a:solidFill>
                  <a:srgbClr val="E2E2E2"/>
                </a:solidFill>
                <a:latin typeface="Calibri"/>
                <a:cs typeface="Calibri"/>
              </a:rPr>
              <a:t>document</a:t>
            </a:r>
            <a:r>
              <a:rPr dirty="0" sz="2200" spc="-10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DFDFDF"/>
                </a:solidFill>
                <a:latin typeface="Calibri"/>
                <a:cs typeface="Calibri"/>
              </a:rPr>
              <a:t>.write).</a:t>
            </a:r>
            <a:endParaRPr sz="2200">
              <a:latin typeface="Calibri"/>
              <a:cs typeface="Calibri"/>
            </a:endParaRPr>
          </a:p>
          <a:p>
            <a:pPr marL="382270" marR="5080" indent="-13335">
              <a:lnSpc>
                <a:spcPts val="2600"/>
              </a:lnSpc>
              <a:spcBef>
                <a:spcPts val="1730"/>
              </a:spcBef>
            </a:pPr>
            <a:r>
              <a:rPr dirty="0" sz="2200">
                <a:solidFill>
                  <a:srgbClr val="E2E2E2"/>
                </a:solidFill>
                <a:latin typeface="Calibri"/>
                <a:cs typeface="Calibri"/>
              </a:rPr>
              <a:t>Filter</a:t>
            </a:r>
            <a:r>
              <a:rPr dirty="0" sz="2200" spc="10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E2E2E2"/>
                </a:solidFill>
                <a:latin typeface="Calibri"/>
                <a:cs typeface="Calibri"/>
              </a:rPr>
              <a:t>Bypasses:</a:t>
            </a:r>
            <a:r>
              <a:rPr dirty="0" sz="2200" spc="130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DDDDD"/>
                </a:solidFill>
                <a:latin typeface="Calibri"/>
                <a:cs typeface="Calibri"/>
              </a:rPr>
              <a:t>Rely </a:t>
            </a:r>
            <a:r>
              <a:rPr dirty="0" sz="2200" spc="-50">
                <a:solidFill>
                  <a:srgbClr val="DDDDDD"/>
                </a:solidFill>
                <a:latin typeface="Calibri"/>
                <a:cs typeface="Calibri"/>
              </a:rPr>
              <a:t>on</a:t>
            </a:r>
            <a:r>
              <a:rPr dirty="0" sz="2200" spc="-75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D8D8D8"/>
                </a:solidFill>
                <a:latin typeface="Calibri"/>
                <a:cs typeface="Calibri"/>
              </a:rPr>
              <a:t>utilizing</a:t>
            </a:r>
            <a:r>
              <a:rPr dirty="0" sz="2200" spc="65">
                <a:solidFill>
                  <a:srgbClr val="D8D8D8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BDBDB"/>
                </a:solidFill>
                <a:latin typeface="Calibri"/>
                <a:cs typeface="Calibri"/>
              </a:rPr>
              <a:t>tags</a:t>
            </a:r>
            <a:r>
              <a:rPr dirty="0" sz="2200" spc="1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2200" spc="-70">
                <a:solidFill>
                  <a:srgbClr val="DBDBDB"/>
                </a:solidFill>
                <a:latin typeface="Calibri"/>
                <a:cs typeface="Calibri"/>
              </a:rPr>
              <a:t>that</a:t>
            </a:r>
            <a:r>
              <a:rPr dirty="0" sz="2200" spc="4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BDBDB"/>
                </a:solidFill>
                <a:latin typeface="Calibri"/>
                <a:cs typeface="Calibri"/>
              </a:rPr>
              <a:t>escape</a:t>
            </a:r>
            <a:r>
              <a:rPr dirty="0" sz="2200" spc="9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2200" spc="-40">
                <a:solidFill>
                  <a:srgbClr val="DFDFDF"/>
                </a:solidFill>
                <a:latin typeface="Calibri"/>
                <a:cs typeface="Calibri"/>
              </a:rPr>
              <a:t>standard</a:t>
            </a:r>
            <a:r>
              <a:rPr dirty="0" sz="2200" spc="9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FDFDF"/>
                </a:solidFill>
                <a:latin typeface="Calibri"/>
                <a:cs typeface="Calibri"/>
              </a:rPr>
              <a:t>string</a:t>
            </a:r>
            <a:r>
              <a:rPr dirty="0" sz="2200" spc="11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E2E2E2"/>
                </a:solidFill>
                <a:latin typeface="Calibri"/>
                <a:cs typeface="Calibri"/>
              </a:rPr>
              <a:t>checks </a:t>
            </a:r>
            <a:r>
              <a:rPr dirty="0" sz="2200" spc="-30">
                <a:solidFill>
                  <a:srgbClr val="DDDDDD"/>
                </a:solidFill>
                <a:latin typeface="Calibri"/>
                <a:cs typeface="Calibri"/>
              </a:rPr>
              <a:t>(e.g.,</a:t>
            </a:r>
            <a:r>
              <a:rPr dirty="0" sz="2200" spc="-7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FDFDF"/>
                </a:solidFill>
                <a:latin typeface="Calibri"/>
                <a:cs typeface="Calibri"/>
              </a:rPr>
              <a:t>bypassing</a:t>
            </a:r>
            <a:r>
              <a:rPr dirty="0" sz="2200" spc="114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 spc="-40">
                <a:solidFill>
                  <a:srgbClr val="DBDBDB"/>
                </a:solidFill>
                <a:latin typeface="Calibri"/>
                <a:cs typeface="Calibri"/>
              </a:rPr>
              <a:t>script/iframe</a:t>
            </a:r>
            <a:r>
              <a:rPr dirty="0" sz="2200" spc="50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E8E8E8"/>
                </a:solidFill>
                <a:latin typeface="Calibri"/>
                <a:cs typeface="Calibri"/>
              </a:rPr>
              <a:t>blocks).</a:t>
            </a:r>
            <a:endParaRPr sz="2200">
              <a:latin typeface="Calibri"/>
              <a:cs typeface="Calibri"/>
            </a:endParaRPr>
          </a:p>
          <a:p>
            <a:pPr marL="377190" marR="69850" indent="-8890">
              <a:lnSpc>
                <a:spcPts val="2600"/>
              </a:lnSpc>
              <a:spcBef>
                <a:spcPts val="1475"/>
              </a:spcBef>
            </a:pPr>
            <a:r>
              <a:rPr dirty="0" sz="2200">
                <a:solidFill>
                  <a:srgbClr val="DFDFDF"/>
                </a:solidFill>
                <a:latin typeface="Calibri"/>
                <a:cs typeface="Calibri"/>
              </a:rPr>
              <a:t>Exploit</a:t>
            </a:r>
            <a:r>
              <a:rPr dirty="0" sz="2200" spc="-40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BDBDB"/>
                </a:solidFill>
                <a:latin typeface="Calibri"/>
                <a:cs typeface="Calibri"/>
              </a:rPr>
              <a:t>Vector:</a:t>
            </a:r>
            <a:r>
              <a:rPr dirty="0" sz="2200" spc="1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DDDDDD"/>
                </a:solidFill>
                <a:latin typeface="Calibri"/>
                <a:cs typeface="Calibri"/>
              </a:rPr>
              <a:t>Event</a:t>
            </a:r>
            <a:r>
              <a:rPr dirty="0" sz="2200" spc="-45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DDDDD"/>
                </a:solidFill>
                <a:latin typeface="Calibri"/>
                <a:cs typeface="Calibri"/>
              </a:rPr>
              <a:t>triggers</a:t>
            </a:r>
            <a:r>
              <a:rPr dirty="0" sz="2200" spc="50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 spc="-45">
                <a:solidFill>
                  <a:srgbClr val="DDDDDD"/>
                </a:solidFill>
                <a:latin typeface="Calibri"/>
                <a:cs typeface="Calibri"/>
              </a:rPr>
              <a:t>embedded</a:t>
            </a:r>
            <a:r>
              <a:rPr dirty="0" sz="2200" spc="-15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BDBDB"/>
                </a:solidFill>
                <a:latin typeface="Calibri"/>
                <a:cs typeface="Calibri"/>
              </a:rPr>
              <a:t>inside</a:t>
            </a:r>
            <a:r>
              <a:rPr dirty="0" sz="2200" spc="35">
                <a:solidFill>
                  <a:srgbClr val="DBDBDB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D8D8D8"/>
                </a:solidFill>
                <a:latin typeface="Calibri"/>
                <a:cs typeface="Calibri"/>
              </a:rPr>
              <a:t>SVGs </a:t>
            </a:r>
            <a:r>
              <a:rPr dirty="0" sz="2200" spc="-20">
                <a:solidFill>
                  <a:srgbClr val="DDDDDD"/>
                </a:solidFill>
                <a:latin typeface="Calibri"/>
                <a:cs typeface="Calibri"/>
              </a:rPr>
              <a:t>or</a:t>
            </a:r>
            <a:r>
              <a:rPr dirty="0" sz="2200" spc="-75">
                <a:solidFill>
                  <a:srgbClr val="DDDDDD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E9E9E9"/>
                </a:solidFill>
                <a:latin typeface="Calibri"/>
                <a:cs typeface="Calibri"/>
              </a:rPr>
              <a:t>images</a:t>
            </a:r>
            <a:r>
              <a:rPr dirty="0" sz="2200" spc="-10">
                <a:solidFill>
                  <a:srgbClr val="E9E9E9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DFDFDF"/>
                </a:solidFill>
                <a:latin typeface="Calibri"/>
                <a:cs typeface="Calibri"/>
              </a:rPr>
              <a:t>function </a:t>
            </a:r>
            <a:r>
              <a:rPr dirty="0" sz="2200" spc="-70">
                <a:solidFill>
                  <a:srgbClr val="DFDFDF"/>
                </a:solidFill>
                <a:latin typeface="Calibri"/>
                <a:cs typeface="Calibri"/>
              </a:rPr>
              <a:t>without</a:t>
            </a:r>
            <a:r>
              <a:rPr dirty="0" sz="2200" spc="25">
                <a:solidFill>
                  <a:srgbClr val="DFDFD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E2E2E2"/>
                </a:solidFill>
                <a:latin typeface="Calibri"/>
                <a:cs typeface="Calibri"/>
              </a:rPr>
              <a:t>script</a:t>
            </a:r>
            <a:r>
              <a:rPr dirty="0" sz="2200" spc="-50">
                <a:solidFill>
                  <a:srgbClr val="E2E2E2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E4E4E4"/>
                </a:solidFill>
                <a:latin typeface="Calibri"/>
                <a:cs typeface="Calibri"/>
              </a:rPr>
              <a:t>keywords.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9423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895260"/>
            <a:ext cx="20080605" cy="495300"/>
          </a:xfrm>
          <a:custGeom>
            <a:avLst/>
            <a:gdLst/>
            <a:ahLst/>
            <a:cxnLst/>
            <a:rect l="l" t="t" r="r" b="b"/>
            <a:pathLst>
              <a:path w="20080605" h="495300">
                <a:moveTo>
                  <a:pt x="20080541" y="494749"/>
                </a:moveTo>
                <a:lnTo>
                  <a:pt x="0" y="49474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94749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05933" y="732041"/>
            <a:ext cx="6756400" cy="77152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900" spc="-50"/>
              <a:t>Stored</a:t>
            </a:r>
            <a:r>
              <a:rPr dirty="0" sz="4900" spc="-55"/>
              <a:t> </a:t>
            </a:r>
            <a:r>
              <a:rPr dirty="0" sz="4900" spc="-330"/>
              <a:t>XSS</a:t>
            </a:r>
            <a:r>
              <a:rPr dirty="0" sz="4900" spc="-10"/>
              <a:t> </a:t>
            </a:r>
            <a:r>
              <a:rPr dirty="0" sz="4900" spc="145"/>
              <a:t>-</a:t>
            </a:r>
            <a:r>
              <a:rPr dirty="0" sz="4900" spc="-125"/>
              <a:t> </a:t>
            </a:r>
            <a:r>
              <a:rPr dirty="0" sz="4900" spc="-215"/>
              <a:t>Anchor</a:t>
            </a:r>
            <a:r>
              <a:rPr dirty="0" sz="4900" spc="-114"/>
              <a:t> </a:t>
            </a:r>
            <a:r>
              <a:rPr dirty="0" sz="4900" spc="-85"/>
              <a:t>Href</a:t>
            </a:r>
            <a:endParaRPr sz="4900"/>
          </a:p>
        </p:txBody>
      </p:sp>
      <p:sp>
        <p:nvSpPr>
          <p:cNvPr id="5" name="object 5" descr=""/>
          <p:cNvSpPr/>
          <p:nvPr/>
        </p:nvSpPr>
        <p:spPr>
          <a:xfrm>
            <a:off x="15706" y="4727604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5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C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706" y="5387270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06" y="5764222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5706" y="6141174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590632" y="4629174"/>
            <a:ext cx="7448550" cy="17957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10"/>
              </a:spcBef>
            </a:pPr>
            <a:r>
              <a:rPr dirty="0" sz="2950" spc="-10">
                <a:solidFill>
                  <a:srgbClr val="1FEF82"/>
                </a:solidFill>
                <a:latin typeface="Arial MT"/>
                <a:cs typeface="Arial MT"/>
              </a:rPr>
              <a:t>The</a:t>
            </a:r>
            <a:r>
              <a:rPr dirty="0" sz="2950" spc="-200">
                <a:solidFill>
                  <a:srgbClr val="1FEF82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18F287"/>
                </a:solidFill>
                <a:latin typeface="Arial MT"/>
                <a:cs typeface="Arial MT"/>
              </a:rPr>
              <a:t>Browser</a:t>
            </a:r>
            <a:r>
              <a:rPr dirty="0" sz="2950" spc="-160">
                <a:solidFill>
                  <a:srgbClr val="18F287"/>
                </a:solidFill>
                <a:latin typeface="Arial MT"/>
                <a:cs typeface="Arial MT"/>
              </a:rPr>
              <a:t> </a:t>
            </a:r>
            <a:r>
              <a:rPr dirty="0" sz="2950" spc="-35">
                <a:solidFill>
                  <a:srgbClr val="18F687"/>
                </a:solidFill>
                <a:latin typeface="Arial MT"/>
                <a:cs typeface="Arial MT"/>
              </a:rPr>
              <a:t>Decolusion</a:t>
            </a:r>
            <a:r>
              <a:rPr dirty="0" sz="2950" spc="-75">
                <a:solidFill>
                  <a:srgbClr val="18F687"/>
                </a:solidFill>
                <a:latin typeface="Arial MT"/>
                <a:cs typeface="Arial MT"/>
              </a:rPr>
              <a:t> </a:t>
            </a:r>
            <a:r>
              <a:rPr dirty="0" sz="2950" spc="-20">
                <a:solidFill>
                  <a:srgbClr val="11F489"/>
                </a:solidFill>
                <a:latin typeface="Arial MT"/>
                <a:cs typeface="Arial MT"/>
              </a:rPr>
              <a:t>Trap</a:t>
            </a:r>
            <a:endParaRPr sz="2950">
              <a:latin typeface="Arial MT"/>
              <a:cs typeface="Arial MT"/>
            </a:endParaRPr>
          </a:p>
          <a:p>
            <a:pPr marL="15240" marR="5080" indent="-3175">
              <a:lnSpc>
                <a:spcPct val="110400"/>
              </a:lnSpc>
              <a:spcBef>
                <a:spcPts val="1390"/>
              </a:spcBef>
            </a:pPr>
            <a:r>
              <a:rPr dirty="0" sz="2200" spc="-100">
                <a:solidFill>
                  <a:srgbClr val="9E9E9E"/>
                </a:solidFill>
                <a:latin typeface="Arial MT"/>
                <a:cs typeface="Arial MT"/>
              </a:rPr>
              <a:t>HTML</a:t>
            </a:r>
            <a:r>
              <a:rPr dirty="0" sz="2200" spc="-5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9E9E9E"/>
                </a:solidFill>
                <a:latin typeface="Arial MT"/>
                <a:cs typeface="Arial MT"/>
              </a:rPr>
              <a:t>attributes</a:t>
            </a:r>
            <a:r>
              <a:rPr dirty="0" sz="2200" spc="-2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A1A1A1"/>
                </a:solidFill>
                <a:latin typeface="Arial MT"/>
                <a:cs typeface="Arial MT"/>
              </a:rPr>
              <a:t>like</a:t>
            </a:r>
            <a:r>
              <a:rPr dirty="0" sz="2200" spc="-9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A1A1A1"/>
                </a:solidFill>
                <a:latin typeface="Arial MT"/>
                <a:cs typeface="Arial MT"/>
              </a:rPr>
              <a:t>href</a:t>
            </a:r>
            <a:r>
              <a:rPr dirty="0" sz="2200" spc="12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200" spc="-40">
                <a:solidFill>
                  <a:srgbClr val="9E9E9E"/>
                </a:solidFill>
                <a:latin typeface="Arial MT"/>
                <a:cs typeface="Arial MT"/>
              </a:rPr>
              <a:t>process</a:t>
            </a:r>
            <a:r>
              <a:rPr dirty="0" sz="2200" spc="1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200" spc="-55">
                <a:solidFill>
                  <a:srgbClr val="9E9E9E"/>
                </a:solidFill>
                <a:latin typeface="Arial MT"/>
                <a:cs typeface="Arial MT"/>
              </a:rPr>
              <a:t>JavaScript</a:t>
            </a:r>
            <a:r>
              <a:rPr dirty="0" sz="2200" spc="2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200" spc="-175">
                <a:solidFill>
                  <a:srgbClr val="9C9C9C"/>
                </a:solidFill>
                <a:latin typeface="Arial MT"/>
                <a:cs typeface="Arial MT"/>
              </a:rPr>
              <a:t>URIs</a:t>
            </a:r>
            <a:r>
              <a:rPr dirty="0" sz="2200" spc="20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200" spc="-40">
                <a:solidFill>
                  <a:srgbClr val="9E9E9E"/>
                </a:solidFill>
                <a:latin typeface="Arial MT"/>
                <a:cs typeface="Arial MT"/>
              </a:rPr>
              <a:t>after</a:t>
            </a:r>
            <a:r>
              <a:rPr dirty="0" sz="2200" spc="-1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9A9A9A"/>
                </a:solidFill>
                <a:latin typeface="Arial MT"/>
                <a:cs typeface="Arial MT"/>
              </a:rPr>
              <a:t>the </a:t>
            </a:r>
            <a:r>
              <a:rPr dirty="0" sz="2300" spc="-90">
                <a:solidFill>
                  <a:srgbClr val="A0A0A0"/>
                </a:solidFill>
                <a:latin typeface="Arial MT"/>
                <a:cs typeface="Arial MT"/>
              </a:rPr>
              <a:t>browser</a:t>
            </a:r>
            <a:r>
              <a:rPr dirty="0" sz="2300" spc="8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300" spc="-105">
                <a:solidFill>
                  <a:srgbClr val="9E9E9E"/>
                </a:solidFill>
                <a:latin typeface="Arial MT"/>
                <a:cs typeface="Arial MT"/>
              </a:rPr>
              <a:t>decodes</a:t>
            </a:r>
            <a:r>
              <a:rPr dirty="0" sz="2300" spc="-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200">
                <a:solidFill>
                  <a:srgbClr val="9E9E9E"/>
                </a:solidFill>
                <a:latin typeface="Arial MT"/>
                <a:cs typeface="Arial MT"/>
              </a:rPr>
              <a:t>HTML</a:t>
            </a:r>
            <a:r>
              <a:rPr dirty="0" sz="2300" spc="4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100">
                <a:solidFill>
                  <a:srgbClr val="9C9C9C"/>
                </a:solidFill>
                <a:latin typeface="Arial MT"/>
                <a:cs typeface="Arial MT"/>
              </a:rPr>
              <a:t>entities</a:t>
            </a:r>
            <a:r>
              <a:rPr dirty="0" sz="2300" spc="-2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300" spc="-95">
                <a:solidFill>
                  <a:srgbClr val="A0A0A0"/>
                </a:solidFill>
                <a:latin typeface="Arial MT"/>
                <a:cs typeface="Arial MT"/>
              </a:rPr>
              <a:t>automatically.</a:t>
            </a:r>
            <a:r>
              <a:rPr dirty="0" sz="2300" spc="-6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300" spc="-185">
                <a:solidFill>
                  <a:srgbClr val="9C9C9C"/>
                </a:solidFill>
                <a:latin typeface="Arial MT"/>
                <a:cs typeface="Arial MT"/>
              </a:rPr>
              <a:t>Because</a:t>
            </a:r>
            <a:r>
              <a:rPr dirty="0" sz="2300" spc="3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A9A9A"/>
                </a:solidFill>
                <a:latin typeface="Arial MT"/>
                <a:cs typeface="Arial MT"/>
              </a:rPr>
              <a:t>of</a:t>
            </a:r>
            <a:r>
              <a:rPr dirty="0" sz="2300" spc="-5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9A9A9A"/>
                </a:solidFill>
                <a:latin typeface="Arial MT"/>
                <a:cs typeface="Arial MT"/>
              </a:rPr>
              <a:t>this, </a:t>
            </a:r>
            <a:r>
              <a:rPr dirty="0" sz="2300" spc="-90">
                <a:solidFill>
                  <a:srgbClr val="A0A0A0"/>
                </a:solidFill>
                <a:latin typeface="Arial MT"/>
                <a:cs typeface="Arial MT"/>
              </a:rPr>
              <a:t>double</a:t>
            </a:r>
            <a:r>
              <a:rPr dirty="0" sz="2300" spc="-70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300" spc="-110">
                <a:solidFill>
                  <a:srgbClr val="9E9E9E"/>
                </a:solidFill>
                <a:latin typeface="Arial MT"/>
                <a:cs typeface="Arial MT"/>
              </a:rPr>
              <a:t>quotes</a:t>
            </a:r>
            <a:r>
              <a:rPr dirty="0" sz="2300" spc="-5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90">
                <a:solidFill>
                  <a:srgbClr val="A0A0A0"/>
                </a:solidFill>
                <a:latin typeface="Arial MT"/>
                <a:cs typeface="Arial MT"/>
              </a:rPr>
              <a:t>converted</a:t>
            </a:r>
            <a:r>
              <a:rPr dirty="0" sz="2300" spc="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E9E9E"/>
                </a:solidFill>
                <a:latin typeface="Arial MT"/>
                <a:cs typeface="Arial MT"/>
              </a:rPr>
              <a:t>to</a:t>
            </a:r>
            <a:r>
              <a:rPr dirty="0" sz="2300" spc="10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254">
                <a:solidFill>
                  <a:srgbClr val="909090"/>
                </a:solidFill>
                <a:latin typeface="Arial MT"/>
                <a:cs typeface="Arial MT"/>
              </a:rPr>
              <a:t>"</a:t>
            </a:r>
            <a:r>
              <a:rPr dirty="0" sz="2300" spc="95">
                <a:solidFill>
                  <a:srgbClr val="909090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9E9E9E"/>
                </a:solidFill>
                <a:latin typeface="Arial MT"/>
                <a:cs typeface="Arial MT"/>
              </a:rPr>
              <a:t>offer</a:t>
            </a:r>
            <a:r>
              <a:rPr dirty="0" sz="2300" spc="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80">
                <a:solidFill>
                  <a:srgbClr val="9A9A9A"/>
                </a:solidFill>
                <a:latin typeface="Arial MT"/>
                <a:cs typeface="Arial MT"/>
              </a:rPr>
              <a:t>no</a:t>
            </a:r>
            <a:r>
              <a:rPr dirty="0" sz="2300" spc="1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1A1A1"/>
                </a:solidFill>
                <a:latin typeface="Arial MT"/>
                <a:cs typeface="Arial MT"/>
              </a:rPr>
              <a:t>defense.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841212" y="4379146"/>
            <a:ext cx="7089775" cy="2030095"/>
          </a:xfrm>
          <a:prstGeom prst="rect">
            <a:avLst/>
          </a:prstGeom>
        </p:spPr>
        <p:txBody>
          <a:bodyPr wrap="square" lIns="0" tIns="264160" rIns="0" bIns="0" rtlCol="0" vert="horz">
            <a:spAutoFit/>
          </a:bodyPr>
          <a:lstStyle/>
          <a:p>
            <a:pPr marL="27940">
              <a:lnSpc>
                <a:spcPct val="100000"/>
              </a:lnSpc>
              <a:spcBef>
                <a:spcPts val="2080"/>
              </a:spcBef>
            </a:pPr>
            <a:r>
              <a:rPr dirty="0" sz="2950">
                <a:solidFill>
                  <a:srgbClr val="13F282"/>
                </a:solidFill>
                <a:latin typeface="Arial MT"/>
                <a:cs typeface="Arial MT"/>
              </a:rPr>
              <a:t>Advanced</a:t>
            </a:r>
            <a:r>
              <a:rPr dirty="0" sz="2950" spc="130">
                <a:solidFill>
                  <a:srgbClr val="13F282"/>
                </a:solidFill>
                <a:latin typeface="Arial MT"/>
                <a:cs typeface="Arial MT"/>
              </a:rPr>
              <a:t> </a:t>
            </a:r>
            <a:r>
              <a:rPr dirty="0" sz="2950" spc="-25">
                <a:solidFill>
                  <a:srgbClr val="15F785"/>
                </a:solidFill>
                <a:latin typeface="Arial MT"/>
                <a:cs typeface="Arial MT"/>
              </a:rPr>
              <a:t>Protocol</a:t>
            </a:r>
            <a:r>
              <a:rPr dirty="0" sz="2950" spc="114">
                <a:solidFill>
                  <a:srgbClr val="15F785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1CBA70"/>
                </a:solidFill>
                <a:latin typeface="Arial MT"/>
                <a:cs typeface="Arial MT"/>
              </a:rPr>
              <a:t>Bypass</a:t>
            </a:r>
            <a:endParaRPr sz="2950">
              <a:latin typeface="Arial MT"/>
              <a:cs typeface="Arial MT"/>
            </a:endParaRPr>
          </a:p>
          <a:p>
            <a:pPr marL="16510" marR="5080" indent="-4445">
              <a:lnSpc>
                <a:spcPct val="107500"/>
              </a:lnSpc>
              <a:spcBef>
                <a:spcPts val="1355"/>
              </a:spcBef>
            </a:pPr>
            <a:r>
              <a:rPr dirty="0" sz="2300" spc="-135">
                <a:solidFill>
                  <a:srgbClr val="A3A3A3"/>
                </a:solidFill>
                <a:latin typeface="Arial MT"/>
                <a:cs typeface="Arial MT"/>
              </a:rPr>
              <a:t>Dangerous</a:t>
            </a:r>
            <a:r>
              <a:rPr dirty="0" sz="2300" spc="-2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300" spc="-55">
                <a:solidFill>
                  <a:srgbClr val="9A9A9A"/>
                </a:solidFill>
                <a:latin typeface="Arial MT"/>
                <a:cs typeface="Arial MT"/>
              </a:rPr>
              <a:t>protocols</a:t>
            </a:r>
            <a:r>
              <a:rPr dirty="0" sz="2300" spc="-4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300" spc="-155">
                <a:solidFill>
                  <a:srgbClr val="A3A3A3"/>
                </a:solidFill>
                <a:latin typeface="Arial MT"/>
                <a:cs typeface="Arial MT"/>
              </a:rPr>
              <a:t>must</a:t>
            </a:r>
            <a:r>
              <a:rPr dirty="0" sz="2300" spc="-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300" spc="-80">
                <a:solidFill>
                  <a:srgbClr val="9C9C9C"/>
                </a:solidFill>
                <a:latin typeface="Arial MT"/>
                <a:cs typeface="Arial MT"/>
              </a:rPr>
              <a:t>be </a:t>
            </a:r>
            <a:r>
              <a:rPr dirty="0" sz="2300" spc="-125">
                <a:solidFill>
                  <a:srgbClr val="A5A5A5"/>
                </a:solidFill>
                <a:latin typeface="Arial MT"/>
                <a:cs typeface="Arial MT"/>
              </a:rPr>
              <a:t>black</a:t>
            </a:r>
            <a:r>
              <a:rPr dirty="0" sz="2300" spc="-38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300" spc="-70">
                <a:solidFill>
                  <a:srgbClr val="979797"/>
                </a:solidFill>
                <a:latin typeface="Arial MT"/>
                <a:cs typeface="Arial MT"/>
              </a:rPr>
              <a:t>listed</a:t>
            </a:r>
            <a:r>
              <a:rPr dirty="0" sz="2300" spc="-25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C9C9C"/>
                </a:solidFill>
                <a:latin typeface="Arial MT"/>
                <a:cs typeface="Arial MT"/>
              </a:rPr>
              <a:t>or</a:t>
            </a:r>
            <a:r>
              <a:rPr dirty="0" sz="2300" spc="-3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solidFill>
                  <a:srgbClr val="9A9A9A"/>
                </a:solidFill>
                <a:latin typeface="Arial MT"/>
                <a:cs typeface="Arial MT"/>
              </a:rPr>
              <a:t>stripped</a:t>
            </a:r>
            <a:r>
              <a:rPr dirty="0" sz="230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A3A3A3"/>
                </a:solidFill>
                <a:latin typeface="Arial MT"/>
                <a:cs typeface="Arial MT"/>
              </a:rPr>
              <a:t>at </a:t>
            </a:r>
            <a:r>
              <a:rPr dirty="0" sz="2300" spc="-85">
                <a:solidFill>
                  <a:srgbClr val="A0A0A0"/>
                </a:solidFill>
                <a:latin typeface="Arial MT"/>
                <a:cs typeface="Arial MT"/>
              </a:rPr>
              <a:t>validation.</a:t>
            </a:r>
            <a:r>
              <a:rPr dirty="0" sz="2300" spc="30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300" spc="-114">
                <a:solidFill>
                  <a:srgbClr val="999999"/>
                </a:solidFill>
                <a:latin typeface="Arial MT"/>
                <a:cs typeface="Arial MT"/>
              </a:rPr>
              <a:t>Simply</a:t>
            </a:r>
            <a:r>
              <a:rPr dirty="0" sz="2300" spc="25">
                <a:solidFill>
                  <a:srgbClr val="999999"/>
                </a:solidFill>
                <a:latin typeface="Arial MT"/>
                <a:cs typeface="Arial MT"/>
              </a:rPr>
              <a:t> </a:t>
            </a:r>
            <a:r>
              <a:rPr dirty="0" sz="2300" spc="-100">
                <a:solidFill>
                  <a:srgbClr val="9E9E9E"/>
                </a:solidFill>
                <a:latin typeface="Arial MT"/>
                <a:cs typeface="Arial MT"/>
              </a:rPr>
              <a:t>encoding</a:t>
            </a:r>
            <a:r>
              <a:rPr dirty="0" sz="2300" spc="2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110">
                <a:solidFill>
                  <a:srgbClr val="9E9E9E"/>
                </a:solidFill>
                <a:latin typeface="Arial MT"/>
                <a:cs typeface="Arial MT"/>
              </a:rPr>
              <a:t>quotes</a:t>
            </a:r>
            <a:r>
              <a:rPr dirty="0" sz="2300" spc="-50">
                <a:solidFill>
                  <a:srgbClr val="9E9E9E"/>
                </a:solidFill>
                <a:latin typeface="Arial MT"/>
                <a:cs typeface="Arial MT"/>
              </a:rPr>
              <a:t> fails</a:t>
            </a:r>
            <a:r>
              <a:rPr dirty="0" sz="2300" spc="-110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C9C9C"/>
                </a:solidFill>
                <a:latin typeface="Arial MT"/>
                <a:cs typeface="Arial MT"/>
              </a:rPr>
              <a:t>to</a:t>
            </a:r>
            <a:r>
              <a:rPr dirty="0" sz="2300" spc="-50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300" spc="-100">
                <a:solidFill>
                  <a:srgbClr val="979797"/>
                </a:solidFill>
                <a:latin typeface="Arial MT"/>
                <a:cs typeface="Arial MT"/>
              </a:rPr>
              <a:t>prevent</a:t>
            </a:r>
            <a:r>
              <a:rPr dirty="0" sz="2300" spc="5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300" spc="-60">
                <a:solidFill>
                  <a:srgbClr val="9E9E9E"/>
                </a:solidFill>
                <a:latin typeface="Arial MT"/>
                <a:cs typeface="Arial MT"/>
              </a:rPr>
              <a:t>dynamic </a:t>
            </a:r>
            <a:r>
              <a:rPr dirty="0" sz="2300" spc="-100">
                <a:solidFill>
                  <a:srgbClr val="9C9C9C"/>
                </a:solidFill>
                <a:latin typeface="Arial MT"/>
                <a:cs typeface="Arial MT"/>
              </a:rPr>
              <a:t>execution</a:t>
            </a:r>
            <a:r>
              <a:rPr dirty="0" sz="2300" spc="-25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979797"/>
                </a:solidFill>
                <a:latin typeface="Arial MT"/>
                <a:cs typeface="Arial MT"/>
              </a:rPr>
              <a:t>of</a:t>
            </a:r>
            <a:r>
              <a:rPr dirty="0" sz="2300" spc="-25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300" spc="-114">
                <a:solidFill>
                  <a:srgbClr val="A3A3A3"/>
                </a:solidFill>
                <a:latin typeface="Arial MT"/>
                <a:cs typeface="Arial MT"/>
              </a:rPr>
              <a:t>harvesting</a:t>
            </a:r>
            <a:r>
              <a:rPr dirty="0" sz="2300" spc="7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1A1A1"/>
                </a:solidFill>
                <a:latin typeface="Arial MT"/>
                <a:cs typeface="Arial MT"/>
              </a:rPr>
              <a:t>payloads.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5706" y="7083553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5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C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696914" y="7070853"/>
            <a:ext cx="840740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7365" algn="l"/>
              </a:tabLst>
            </a:pPr>
            <a:r>
              <a:rPr dirty="0" sz="1550" spc="-25">
                <a:solidFill>
                  <a:srgbClr val="EDEDED"/>
                </a:solidFill>
                <a:latin typeface="Arial MT"/>
                <a:cs typeface="Arial MT"/>
              </a:rPr>
              <a:t>Raw</a:t>
            </a:r>
            <a:r>
              <a:rPr dirty="0" sz="1550">
                <a:solidFill>
                  <a:srgbClr val="EDEDED"/>
                </a:solidFill>
                <a:latin typeface="Arial MT"/>
                <a:cs typeface="Arial MT"/>
              </a:rPr>
              <a:t>	</a:t>
            </a:r>
            <a:r>
              <a:rPr dirty="0" sz="1550" spc="-160">
                <a:solidFill>
                  <a:srgbClr val="F6F6F6"/>
                </a:solidFill>
                <a:latin typeface="Arial MT"/>
                <a:cs typeface="Arial MT"/>
              </a:rPr>
              <a:t>DB</a:t>
            </a:r>
            <a:r>
              <a:rPr dirty="0" sz="1550" spc="-145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EFEFEF"/>
                </a:solidFill>
                <a:latin typeface="Arial MT"/>
                <a:cs typeface="Arial MT"/>
              </a:rPr>
              <a:t>: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695152" y="7070853"/>
            <a:ext cx="2799715" cy="261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>
                <a:solidFill>
                  <a:srgbClr val="281A00"/>
                </a:solidFill>
                <a:latin typeface="Arial MT"/>
                <a:cs typeface="Arial MT"/>
              </a:rPr>
              <a:t>j</a:t>
            </a:r>
            <a:r>
              <a:rPr dirty="0" sz="1550" spc="125">
                <a:solidFill>
                  <a:srgbClr val="281A00"/>
                </a:solidFill>
                <a:latin typeface="Arial MT"/>
                <a:cs typeface="Arial MT"/>
              </a:rPr>
              <a:t> </a:t>
            </a:r>
            <a:r>
              <a:rPr dirty="0" sz="1550" spc="110">
                <a:solidFill>
                  <a:srgbClr val="FFFFFF"/>
                </a:solidFill>
                <a:latin typeface="Arial MT"/>
                <a:cs typeface="Arial MT"/>
              </a:rPr>
              <a:t>avasc</a:t>
            </a:r>
            <a:r>
              <a:rPr dirty="0" sz="1550" spc="-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370">
                <a:solidFill>
                  <a:srgbClr val="FFFFFF"/>
                </a:solidFill>
                <a:latin typeface="Arial MT"/>
                <a:cs typeface="Arial MT"/>
              </a:rPr>
              <a:t>ript</a:t>
            </a:r>
            <a:r>
              <a:rPr dirty="0" sz="15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550" spc="310">
                <a:solidFill>
                  <a:srgbClr val="EFEFEF"/>
                </a:solidFill>
                <a:latin typeface="Arial MT"/>
                <a:cs typeface="Arial MT"/>
              </a:rPr>
              <a:t>:</a:t>
            </a:r>
            <a:r>
              <a:rPr dirty="0" sz="1550" spc="310">
                <a:solidFill>
                  <a:srgbClr val="F2F2F2"/>
                </a:solidFill>
                <a:latin typeface="Arial MT"/>
                <a:cs typeface="Arial MT"/>
              </a:rPr>
              <a:t>ale</a:t>
            </a:r>
            <a:r>
              <a:rPr dirty="0" sz="1550" spc="310">
                <a:solidFill>
                  <a:srgbClr val="3F2A13"/>
                </a:solidFill>
                <a:latin typeface="Arial MT"/>
                <a:cs typeface="Arial MT"/>
              </a:rPr>
              <a:t>rt</a:t>
            </a:r>
            <a:r>
              <a:rPr dirty="0" sz="1550" spc="-60">
                <a:solidFill>
                  <a:srgbClr val="3F2A13"/>
                </a:solidFill>
                <a:latin typeface="Arial MT"/>
                <a:cs typeface="Arial MT"/>
              </a:rPr>
              <a:t> </a:t>
            </a:r>
            <a:r>
              <a:rPr dirty="0" sz="1550" spc="110">
                <a:solidFill>
                  <a:srgbClr val="1D0800"/>
                </a:solidFill>
                <a:latin typeface="Arial MT"/>
                <a:cs typeface="Arial MT"/>
              </a:rPr>
              <a:t>(</a:t>
            </a:r>
            <a:r>
              <a:rPr dirty="0" sz="1550" spc="110">
                <a:solidFill>
                  <a:srgbClr val="EDEDED"/>
                </a:solidFill>
                <a:latin typeface="Arial MT"/>
                <a:cs typeface="Arial MT"/>
              </a:rPr>
              <a:t>"XSS"</a:t>
            </a:r>
            <a:r>
              <a:rPr dirty="0" sz="1550" spc="-5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241100"/>
                </a:solidFill>
                <a:latin typeface="Arial MT"/>
                <a:cs typeface="Arial MT"/>
              </a:rPr>
              <a:t>)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973136" y="7023080"/>
            <a:ext cx="303974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EDEDED"/>
                </a:solidFill>
                <a:latin typeface="Arial MT"/>
                <a:cs typeface="Arial MT"/>
              </a:rPr>
              <a:t>j</a:t>
            </a:r>
            <a:r>
              <a:rPr dirty="0" sz="1650" spc="-6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650" spc="60">
                <a:solidFill>
                  <a:srgbClr val="FFFFFF"/>
                </a:solidFill>
                <a:latin typeface="Arial MT"/>
                <a:cs typeface="Arial MT"/>
              </a:rPr>
              <a:t>avasc</a:t>
            </a:r>
            <a:r>
              <a:rPr dirty="0" sz="1650" spc="-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335">
                <a:solidFill>
                  <a:srgbClr val="F4F4F4"/>
                </a:solidFill>
                <a:latin typeface="Arial MT"/>
                <a:cs typeface="Arial MT"/>
              </a:rPr>
              <a:t>ript</a:t>
            </a:r>
            <a:r>
              <a:rPr dirty="0" sz="1650" spc="-14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1650" spc="215">
                <a:solidFill>
                  <a:srgbClr val="F2F2F2"/>
                </a:solidFill>
                <a:latin typeface="Arial MT"/>
                <a:cs typeface="Arial MT"/>
              </a:rPr>
              <a:t>:</a:t>
            </a:r>
            <a:r>
              <a:rPr dirty="0" sz="1650" spc="215">
                <a:solidFill>
                  <a:srgbClr val="FFFFFF"/>
                </a:solidFill>
                <a:latin typeface="Arial MT"/>
                <a:cs typeface="Arial MT"/>
              </a:rPr>
              <a:t>void</a:t>
            </a:r>
            <a:r>
              <a:rPr dirty="0" sz="1650" spc="-2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40">
                <a:solidFill>
                  <a:srgbClr val="EFEFEF"/>
                </a:solidFill>
                <a:latin typeface="Arial MT"/>
                <a:cs typeface="Arial MT"/>
              </a:rPr>
              <a:t>(</a:t>
            </a:r>
            <a:r>
              <a:rPr dirty="0" sz="1650" spc="-7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650" spc="225">
                <a:solidFill>
                  <a:srgbClr val="FFFFFF"/>
                </a:solidFill>
                <a:latin typeface="Arial MT"/>
                <a:cs typeface="Arial MT"/>
              </a:rPr>
              <a:t>fetc</a:t>
            </a:r>
            <a:r>
              <a:rPr dirty="0" sz="1650" spc="-2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85">
                <a:solidFill>
                  <a:srgbClr val="E8E8E8"/>
                </a:solidFill>
                <a:latin typeface="Arial MT"/>
                <a:cs typeface="Arial MT"/>
              </a:rPr>
              <a:t>h</a:t>
            </a:r>
            <a:r>
              <a:rPr dirty="0" sz="1650" spc="85">
                <a:solidFill>
                  <a:srgbClr val="F0F0F0"/>
                </a:solidFill>
                <a:latin typeface="Arial MT"/>
                <a:cs typeface="Arial MT"/>
              </a:rPr>
              <a:t>(</a:t>
            </a:r>
            <a:r>
              <a:rPr dirty="0" sz="1650" spc="105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EFEFEF"/>
                </a:solidFill>
                <a:latin typeface="Arial MT"/>
                <a:cs typeface="Arial MT"/>
              </a:rPr>
              <a:t>'</a:t>
            </a:r>
            <a:r>
              <a:rPr dirty="0" sz="1650" spc="6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650" spc="-25">
                <a:solidFill>
                  <a:srgbClr val="F2F2F2"/>
                </a:solidFill>
                <a:latin typeface="Arial MT"/>
                <a:cs typeface="Arial MT"/>
              </a:rPr>
              <a:t>...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5145218" y="7023080"/>
            <a:ext cx="292735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90">
                <a:solidFill>
                  <a:srgbClr val="F2F2F2"/>
                </a:solidFill>
                <a:latin typeface="Arial MT"/>
                <a:cs typeface="Arial MT"/>
              </a:rPr>
              <a:t>s</a:t>
            </a:r>
            <a:r>
              <a:rPr dirty="0" sz="1650" spc="9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EDEDED"/>
                </a:solidFill>
                <a:latin typeface="Arial MT"/>
                <a:cs typeface="Arial MT"/>
              </a:rPr>
              <a:t>ea</a:t>
            </a:r>
            <a:r>
              <a:rPr dirty="0" sz="1650" spc="-275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650" spc="95">
                <a:solidFill>
                  <a:srgbClr val="F4F4F4"/>
                </a:solidFill>
                <a:latin typeface="Arial MT"/>
                <a:cs typeface="Arial MT"/>
              </a:rPr>
              <a:t>t?c=</a:t>
            </a:r>
            <a:r>
              <a:rPr dirty="0" sz="1650" spc="-5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EDEDED"/>
                </a:solidFill>
                <a:latin typeface="Arial MT"/>
                <a:cs typeface="Arial MT"/>
              </a:rPr>
              <a:t>'</a:t>
            </a:r>
            <a:r>
              <a:rPr dirty="0" sz="1650" spc="-12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650" spc="120">
                <a:solidFill>
                  <a:srgbClr val="FFFFFF"/>
                </a:solidFill>
                <a:latin typeface="Arial MT"/>
                <a:cs typeface="Arial MT"/>
              </a:rPr>
              <a:t>+btoa(</a:t>
            </a:r>
            <a:r>
              <a:rPr dirty="0" sz="165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135">
                <a:solidFill>
                  <a:srgbClr val="FFFFFF"/>
                </a:solidFill>
                <a:latin typeface="Arial MT"/>
                <a:cs typeface="Arial MT"/>
              </a:rPr>
              <a:t>cookie</a:t>
            </a:r>
            <a:r>
              <a:rPr dirty="0" sz="1650" spc="-1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E6E6E6"/>
                </a:solidFill>
                <a:latin typeface="Arial MT"/>
                <a:cs typeface="Arial MT"/>
              </a:rPr>
              <a:t>)</a:t>
            </a:r>
            <a:r>
              <a:rPr dirty="0" sz="1650" spc="-3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B18C72"/>
                </a:solidFill>
                <a:latin typeface="Arial MT"/>
                <a:cs typeface="Arial MT"/>
              </a:rPr>
              <a:t>)</a:t>
            </a:r>
            <a:r>
              <a:rPr dirty="0" sz="1650" spc="-35">
                <a:solidFill>
                  <a:srgbClr val="B18C72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F0F0F0"/>
                </a:solidFill>
                <a:latin typeface="Arial MT"/>
                <a:cs typeface="Arial MT"/>
              </a:rPr>
              <a:t>)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59" y="0"/>
            <a:ext cx="20056981" cy="9423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0107021" y="8029860"/>
            <a:ext cx="1068070" cy="0"/>
          </a:xfrm>
          <a:custGeom>
            <a:avLst/>
            <a:gdLst/>
            <a:ahLst/>
            <a:cxnLst/>
            <a:rect l="l" t="t" r="r" b="b"/>
            <a:pathLst>
              <a:path w="1068070" h="0">
                <a:moveTo>
                  <a:pt x="0" y="0"/>
                </a:moveTo>
                <a:lnTo>
                  <a:pt x="1068030" y="0"/>
                </a:lnTo>
              </a:path>
            </a:pathLst>
          </a:custGeom>
          <a:ln w="7853">
            <a:solidFill>
              <a:srgbClr val="2B1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107021" y="7197425"/>
            <a:ext cx="1083945" cy="0"/>
          </a:xfrm>
          <a:custGeom>
            <a:avLst/>
            <a:gdLst/>
            <a:ahLst/>
            <a:cxnLst/>
            <a:rect l="l" t="t" r="r" b="b"/>
            <a:pathLst>
              <a:path w="1083945" h="0">
                <a:moveTo>
                  <a:pt x="0" y="0"/>
                </a:moveTo>
                <a:lnTo>
                  <a:pt x="1083736" y="0"/>
                </a:lnTo>
              </a:path>
            </a:pathLst>
          </a:custGeom>
          <a:ln w="7853">
            <a:solidFill>
              <a:srgbClr val="2B1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107021" y="6364989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 h="0">
                <a:moveTo>
                  <a:pt x="0" y="0"/>
                </a:moveTo>
                <a:lnTo>
                  <a:pt x="1044470" y="0"/>
                </a:lnTo>
              </a:path>
            </a:pathLst>
          </a:custGeom>
          <a:ln w="23559">
            <a:solidFill>
              <a:srgbClr val="2B1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107021" y="4700118"/>
            <a:ext cx="1083945" cy="0"/>
          </a:xfrm>
          <a:custGeom>
            <a:avLst/>
            <a:gdLst/>
            <a:ahLst/>
            <a:cxnLst/>
            <a:rect l="l" t="t" r="r" b="b"/>
            <a:pathLst>
              <a:path w="1083945" h="0">
                <a:moveTo>
                  <a:pt x="0" y="0"/>
                </a:moveTo>
                <a:lnTo>
                  <a:pt x="1083736" y="0"/>
                </a:lnTo>
              </a:path>
            </a:pathLst>
          </a:custGeom>
          <a:ln w="7853">
            <a:solidFill>
              <a:srgbClr val="2B1C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06" y="895260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69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95"/>
              </a:spcBef>
            </a:pPr>
            <a:r>
              <a:rPr dirty="0" sz="4900" spc="-75"/>
              <a:t>Lab</a:t>
            </a:r>
            <a:r>
              <a:rPr dirty="0" sz="4900" spc="-180"/>
              <a:t> </a:t>
            </a:r>
            <a:r>
              <a:rPr dirty="0" sz="4900" spc="-155"/>
              <a:t>Accomplishment</a:t>
            </a:r>
            <a:r>
              <a:rPr dirty="0" sz="4900" spc="-165"/>
              <a:t> </a:t>
            </a:r>
            <a:r>
              <a:rPr dirty="0" sz="4900" spc="-65"/>
              <a:t>Summary</a:t>
            </a:r>
            <a:endParaRPr sz="4900"/>
          </a:p>
        </p:txBody>
      </p:sp>
      <p:sp>
        <p:nvSpPr>
          <p:cNvPr id="9" name="object 9" descr=""/>
          <p:cNvSpPr/>
          <p:nvPr/>
        </p:nvSpPr>
        <p:spPr>
          <a:xfrm>
            <a:off x="15706" y="4005113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C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24789" y="3943331"/>
            <a:ext cx="224726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Academy</a:t>
            </a:r>
            <a:r>
              <a:rPr dirty="0" sz="19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Lab</a:t>
            </a:r>
            <a:r>
              <a:rPr dirty="0" sz="190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Arial MT"/>
                <a:cs typeface="Arial MT"/>
              </a:rPr>
              <a:t>Target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214312" y="3943331"/>
            <a:ext cx="164020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Type</a:t>
            </a:r>
            <a:r>
              <a:rPr dirty="0" sz="1900" spc="-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90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Attack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013356" y="3959692"/>
            <a:ext cx="8699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Severity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714286" y="3959692"/>
            <a:ext cx="10915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dirty="0" sz="18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988324" y="3943331"/>
            <a:ext cx="125158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Verification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5706" y="4711898"/>
            <a:ext cx="20080605" cy="400685"/>
            <a:chOff x="15706" y="4711898"/>
            <a:chExt cx="20080605" cy="400685"/>
          </a:xfrm>
        </p:grpSpPr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20637" y="4735457"/>
              <a:ext cx="1193680" cy="353392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5706" y="4711898"/>
              <a:ext cx="20080605" cy="400685"/>
            </a:xfrm>
            <a:custGeom>
              <a:avLst/>
              <a:gdLst/>
              <a:ahLst/>
              <a:cxnLst/>
              <a:rect l="l" t="t" r="r" b="b"/>
              <a:pathLst>
                <a:path w="20080605" h="400685">
                  <a:moveTo>
                    <a:pt x="20080541" y="400511"/>
                  </a:moveTo>
                  <a:lnTo>
                    <a:pt x="0" y="400511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00511"/>
                  </a:lnTo>
                  <a:close/>
                </a:path>
              </a:pathLst>
            </a:custGeom>
            <a:solidFill>
              <a:srgbClr val="0C13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397706" y="4728647"/>
            <a:ext cx="373062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90">
                <a:solidFill>
                  <a:srgbClr val="DBDBDB"/>
                </a:solidFill>
                <a:latin typeface="Arial MT"/>
                <a:cs typeface="Arial MT"/>
              </a:rPr>
              <a:t>1.</a:t>
            </a:r>
            <a:r>
              <a:rPr dirty="0" sz="1900" spc="-4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900" spc="-45">
                <a:solidFill>
                  <a:srgbClr val="E2E2E2"/>
                </a:solidFill>
                <a:latin typeface="Arial MT"/>
                <a:cs typeface="Arial MT"/>
              </a:rPr>
              <a:t>Reflected</a:t>
            </a:r>
            <a:r>
              <a:rPr dirty="0" sz="1900" spc="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900" spc="-170">
                <a:solidFill>
                  <a:srgbClr val="DDDDDD"/>
                </a:solidFill>
                <a:latin typeface="Arial MT"/>
                <a:cs typeface="Arial MT"/>
              </a:rPr>
              <a:t>XSS</a:t>
            </a:r>
            <a:r>
              <a:rPr dirty="0" sz="1900" spc="4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DDDDD"/>
                </a:solidFill>
                <a:latin typeface="Arial MT"/>
                <a:cs typeface="Arial MT"/>
              </a:rPr>
              <a:t>into</a:t>
            </a:r>
            <a:r>
              <a:rPr dirty="0" sz="1900" spc="-3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 spc="-130">
                <a:solidFill>
                  <a:srgbClr val="D6D6D6"/>
                </a:solidFill>
                <a:latin typeface="Arial MT"/>
                <a:cs typeface="Arial MT"/>
              </a:rPr>
              <a:t>HTM</a:t>
            </a:r>
            <a:r>
              <a:rPr dirty="0" sz="1900" spc="-325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1900" spc="-250">
                <a:solidFill>
                  <a:srgbClr val="DFDFDF"/>
                </a:solidFill>
                <a:latin typeface="Arial MT"/>
                <a:cs typeface="Arial MT"/>
              </a:rPr>
              <a:t>L</a:t>
            </a:r>
            <a:r>
              <a:rPr dirty="0" sz="1900" spc="11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 spc="-35">
                <a:solidFill>
                  <a:srgbClr val="E2E2E2"/>
                </a:solidFill>
                <a:latin typeface="Arial MT"/>
                <a:cs typeface="Arial MT"/>
              </a:rPr>
              <a:t>Context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216478" y="4728647"/>
            <a:ext cx="979169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60">
                <a:solidFill>
                  <a:srgbClr val="E6E6E6"/>
                </a:solidFill>
                <a:latin typeface="Arial MT"/>
                <a:cs typeface="Arial MT"/>
              </a:rPr>
              <a:t>Reflected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721669" y="4761369"/>
            <a:ext cx="219900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>
                <a:solidFill>
                  <a:srgbClr val="D8D8D8"/>
                </a:solidFill>
                <a:latin typeface="Arial MT"/>
                <a:cs typeface="Arial MT"/>
              </a:rPr>
              <a:t>GET</a:t>
            </a:r>
            <a:r>
              <a:rPr dirty="0" sz="1650" spc="19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DFDFDF"/>
                </a:solidFill>
                <a:latin typeface="Arial MT"/>
                <a:cs typeface="Arial MT"/>
              </a:rPr>
              <a:t>Query</a:t>
            </a:r>
            <a:r>
              <a:rPr dirty="0" sz="1650" spc="24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DFDFDF"/>
                </a:solidFill>
                <a:latin typeface="Arial MT"/>
                <a:cs typeface="Arial MT"/>
              </a:rPr>
              <a:t>Reflection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7313783" y="4728647"/>
            <a:ext cx="8661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004913"/>
                </a:solidFill>
                <a:latin typeface="Consolas"/>
                <a:cs typeface="Consolas"/>
              </a:rPr>
              <a:t>SOLVED</a:t>
            </a:r>
            <a:endParaRPr sz="1900">
              <a:latin typeface="Consolas"/>
              <a:cs typeface="Consola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5706" y="5607159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C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1425011" y="5561083"/>
            <a:ext cx="345186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DFDFDF"/>
                </a:solidFill>
                <a:latin typeface="Arial MT"/>
                <a:cs typeface="Arial MT"/>
              </a:rPr>
              <a:t>2.</a:t>
            </a:r>
            <a:r>
              <a:rPr dirty="0" sz="1900" spc="-1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 spc="-35">
                <a:solidFill>
                  <a:srgbClr val="E6E6E6"/>
                </a:solidFill>
                <a:latin typeface="Arial MT"/>
                <a:cs typeface="Arial MT"/>
              </a:rPr>
              <a:t>Stored</a:t>
            </a:r>
            <a:r>
              <a:rPr dirty="0" sz="1900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900" spc="-170">
                <a:solidFill>
                  <a:srgbClr val="DDDDDD"/>
                </a:solidFill>
                <a:latin typeface="Arial MT"/>
                <a:cs typeface="Arial MT"/>
              </a:rPr>
              <a:t>XSS</a:t>
            </a:r>
            <a:r>
              <a:rPr dirty="0" sz="1900" spc="4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FDFDF"/>
                </a:solidFill>
                <a:latin typeface="Arial MT"/>
                <a:cs typeface="Arial MT"/>
              </a:rPr>
              <a:t>into</a:t>
            </a:r>
            <a:r>
              <a:rPr dirty="0" sz="1900" spc="-4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 spc="-130">
                <a:solidFill>
                  <a:srgbClr val="DBDBDB"/>
                </a:solidFill>
                <a:latin typeface="Arial MT"/>
                <a:cs typeface="Arial MT"/>
              </a:rPr>
              <a:t>HTM</a:t>
            </a:r>
            <a:r>
              <a:rPr dirty="0" sz="1900" spc="-32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900" spc="-250">
                <a:solidFill>
                  <a:srgbClr val="DBDBDB"/>
                </a:solidFill>
                <a:latin typeface="Arial MT"/>
                <a:cs typeface="Arial MT"/>
              </a:rPr>
              <a:t>L</a:t>
            </a:r>
            <a:r>
              <a:rPr dirty="0" sz="1900" spc="11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900" spc="-40">
                <a:solidFill>
                  <a:srgbClr val="E2E2E2"/>
                </a:solidFill>
                <a:latin typeface="Arial MT"/>
                <a:cs typeface="Arial MT"/>
              </a:rPr>
              <a:t>Context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218363" y="5593804"/>
            <a:ext cx="68961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40">
                <a:solidFill>
                  <a:srgbClr val="E8E8E8"/>
                </a:solidFill>
                <a:latin typeface="Arial MT"/>
                <a:cs typeface="Arial MT"/>
              </a:rPr>
              <a:t>Stored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2720639" y="5544722"/>
            <a:ext cx="180467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45">
                <a:solidFill>
                  <a:srgbClr val="DFDFDF"/>
                </a:solidFill>
                <a:latin typeface="Arial MT"/>
                <a:cs typeface="Arial MT"/>
              </a:rPr>
              <a:t>Persistence</a:t>
            </a:r>
            <a:r>
              <a:rPr dirty="0" sz="2050" spc="7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 spc="-145">
                <a:solidFill>
                  <a:srgbClr val="D6D6D6"/>
                </a:solidFill>
                <a:latin typeface="Arial MT"/>
                <a:cs typeface="Arial MT"/>
              </a:rPr>
              <a:t>in</a:t>
            </a:r>
            <a:r>
              <a:rPr dirty="0" sz="205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050" spc="-330">
                <a:solidFill>
                  <a:srgbClr val="DDDDDD"/>
                </a:solidFill>
                <a:latin typeface="Arial MT"/>
                <a:cs typeface="Arial MT"/>
              </a:rPr>
              <a:t>DB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6992689" y="5577443"/>
            <a:ext cx="1186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Arial MT"/>
                <a:cs typeface="Arial MT"/>
              </a:rPr>
              <a:t>@</a:t>
            </a:r>
            <a:r>
              <a:rPr dirty="0" sz="180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14">
                <a:solidFill>
                  <a:srgbClr val="00E480"/>
                </a:solidFill>
                <a:latin typeface="Arial MT"/>
                <a:cs typeface="Arial MT"/>
              </a:rPr>
              <a:t>SOLVED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15706" y="6376769"/>
            <a:ext cx="20080605" cy="400685"/>
            <a:chOff x="15706" y="6376769"/>
            <a:chExt cx="20080605" cy="400685"/>
          </a:xfrm>
        </p:grpSpPr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20637" y="6494566"/>
              <a:ext cx="1146561" cy="27486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5706" y="6376769"/>
              <a:ext cx="20080605" cy="400685"/>
            </a:xfrm>
            <a:custGeom>
              <a:avLst/>
              <a:gdLst/>
              <a:ahLst/>
              <a:cxnLst/>
              <a:rect l="l" t="t" r="r" b="b"/>
              <a:pathLst>
                <a:path w="20080605" h="400684">
                  <a:moveTo>
                    <a:pt x="20080541" y="400511"/>
                  </a:moveTo>
                  <a:lnTo>
                    <a:pt x="0" y="400511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00511"/>
                  </a:lnTo>
                  <a:close/>
                </a:path>
              </a:pathLst>
            </a:custGeom>
            <a:solidFill>
              <a:srgbClr val="0C11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421287" y="6377158"/>
            <a:ext cx="362077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60">
                <a:solidFill>
                  <a:srgbClr val="D6D6D6"/>
                </a:solidFill>
                <a:latin typeface="Arial MT"/>
                <a:cs typeface="Arial MT"/>
              </a:rPr>
              <a:t>3.</a:t>
            </a:r>
            <a:r>
              <a:rPr dirty="0" sz="2050" spc="-65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050" spc="-275">
                <a:solidFill>
                  <a:srgbClr val="D6D6D6"/>
                </a:solidFill>
                <a:latin typeface="Arial MT"/>
                <a:cs typeface="Arial MT"/>
              </a:rPr>
              <a:t>DOM</a:t>
            </a:r>
            <a:r>
              <a:rPr dirty="0" sz="2050" spc="165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050" spc="-280">
                <a:solidFill>
                  <a:srgbClr val="E1E1E1"/>
                </a:solidFill>
                <a:latin typeface="Arial MT"/>
                <a:cs typeface="Arial MT"/>
              </a:rPr>
              <a:t>XSS</a:t>
            </a:r>
            <a:r>
              <a:rPr dirty="0" sz="2050" spc="9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1D1D1"/>
                </a:solidFill>
                <a:latin typeface="Arial MT"/>
                <a:cs typeface="Arial MT"/>
              </a:rPr>
              <a:t>-</a:t>
            </a:r>
            <a:r>
              <a:rPr dirty="0" sz="2050" spc="-15">
                <a:solidFill>
                  <a:srgbClr val="D1D1D1"/>
                </a:solidFill>
                <a:latin typeface="Arial MT"/>
                <a:cs typeface="Arial MT"/>
              </a:rPr>
              <a:t> </a:t>
            </a:r>
            <a:r>
              <a:rPr dirty="0" sz="2050" spc="-105">
                <a:solidFill>
                  <a:srgbClr val="E8E8E8"/>
                </a:solidFill>
                <a:latin typeface="Arial MT"/>
                <a:cs typeface="Arial MT"/>
              </a:rPr>
              <a:t>document.write</a:t>
            </a:r>
            <a:r>
              <a:rPr dirty="0" sz="2050" spc="-60">
                <a:solidFill>
                  <a:srgbClr val="E8E8E8"/>
                </a:solidFill>
                <a:latin typeface="Arial MT"/>
                <a:cs typeface="Arial MT"/>
              </a:rPr>
              <a:t> </a:t>
            </a:r>
            <a:r>
              <a:rPr dirty="0" sz="2050" spc="-140">
                <a:solidFill>
                  <a:srgbClr val="DFDFDF"/>
                </a:solidFill>
                <a:latin typeface="Arial MT"/>
                <a:cs typeface="Arial MT"/>
              </a:rPr>
              <a:t>Sink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218097" y="6409879"/>
            <a:ext cx="12731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D4D4D4"/>
                </a:solidFill>
                <a:latin typeface="Arial MT"/>
                <a:cs typeface="Arial MT"/>
              </a:rPr>
              <a:t>DOM</a:t>
            </a:r>
            <a:r>
              <a:rPr dirty="0" sz="1800" spc="-28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1800" spc="-25">
                <a:solidFill>
                  <a:srgbClr val="DADADA"/>
                </a:solidFill>
                <a:latin typeface="Arial MT"/>
                <a:cs typeface="Arial MT"/>
              </a:rPr>
              <a:t>-</a:t>
            </a:r>
            <a:r>
              <a:rPr dirty="0" sz="1800" spc="-10">
                <a:solidFill>
                  <a:srgbClr val="DADADA"/>
                </a:solidFill>
                <a:latin typeface="Arial MT"/>
                <a:cs typeface="Arial MT"/>
              </a:rPr>
              <a:t>Based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2724118" y="6426240"/>
            <a:ext cx="225933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50">
                <a:solidFill>
                  <a:srgbClr val="DFDFDF"/>
                </a:solidFill>
                <a:latin typeface="Arial MT"/>
                <a:cs typeface="Arial MT"/>
              </a:rPr>
              <a:t>Unescap</a:t>
            </a:r>
            <a:r>
              <a:rPr dirty="0" sz="1650" spc="-19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650" spc="60">
                <a:solidFill>
                  <a:srgbClr val="DBDBDB"/>
                </a:solidFill>
                <a:latin typeface="Arial MT"/>
                <a:cs typeface="Arial MT"/>
              </a:rPr>
              <a:t>ed</a:t>
            </a:r>
            <a:r>
              <a:rPr dirty="0" sz="1650" spc="26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E9E9E9"/>
                </a:solidFill>
                <a:latin typeface="Arial MT"/>
                <a:cs typeface="Arial MT"/>
              </a:rPr>
              <a:t>client</a:t>
            </a:r>
            <a:r>
              <a:rPr dirty="0" sz="1650" spc="38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E6E6E6"/>
                </a:solidFill>
                <a:latin typeface="Arial MT"/>
                <a:cs typeface="Arial MT"/>
              </a:rPr>
              <a:t>sink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7313783" y="6393518"/>
            <a:ext cx="86614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10">
                <a:solidFill>
                  <a:srgbClr val="003A0A"/>
                </a:solidFill>
                <a:latin typeface="Consolas"/>
                <a:cs typeface="Consolas"/>
              </a:rPr>
              <a:t>SOLVED</a:t>
            </a:r>
            <a:endParaRPr sz="1900">
              <a:latin typeface="Consolas"/>
              <a:cs typeface="Consolas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5706" y="7209204"/>
            <a:ext cx="20080605" cy="400685"/>
            <a:chOff x="15706" y="7209204"/>
            <a:chExt cx="20080605" cy="400685"/>
          </a:xfrm>
        </p:grpSpPr>
        <p:pic>
          <p:nvPicPr>
            <p:cNvPr id="35" name="object 3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20637" y="7209204"/>
              <a:ext cx="1193680" cy="37695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5706" y="7209204"/>
              <a:ext cx="20080605" cy="400685"/>
            </a:xfrm>
            <a:custGeom>
              <a:avLst/>
              <a:gdLst/>
              <a:ahLst/>
              <a:cxnLst/>
              <a:rect l="l" t="t" r="r" b="b"/>
              <a:pathLst>
                <a:path w="20080605" h="400684">
                  <a:moveTo>
                    <a:pt x="20080541" y="400511"/>
                  </a:moveTo>
                  <a:lnTo>
                    <a:pt x="0" y="400511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00511"/>
                  </a:lnTo>
                  <a:close/>
                </a:path>
              </a:pathLst>
            </a:custGeom>
            <a:solidFill>
              <a:srgbClr val="0C11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429164" y="7225953"/>
            <a:ext cx="285559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D6D6D6"/>
                </a:solidFill>
                <a:latin typeface="Arial MT"/>
                <a:cs typeface="Arial MT"/>
              </a:rPr>
              <a:t>4.</a:t>
            </a:r>
            <a:r>
              <a:rPr dirty="0" sz="1900" spc="-9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1900" spc="-45">
                <a:solidFill>
                  <a:srgbClr val="D8D8D8"/>
                </a:solidFill>
                <a:latin typeface="Arial MT"/>
                <a:cs typeface="Arial MT"/>
              </a:rPr>
              <a:t>Anchor</a:t>
            </a:r>
            <a:r>
              <a:rPr dirty="0" sz="1900" spc="-8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4D4D4"/>
                </a:solidFill>
                <a:latin typeface="Arial MT"/>
                <a:cs typeface="Arial MT"/>
              </a:rPr>
              <a:t>href</a:t>
            </a:r>
            <a:r>
              <a:rPr dirty="0" sz="1900" spc="-6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1900" spc="-40">
                <a:solidFill>
                  <a:srgbClr val="DDDDDD"/>
                </a:solidFill>
                <a:latin typeface="Arial MT"/>
                <a:cs typeface="Arial MT"/>
              </a:rPr>
              <a:t>Filter</a:t>
            </a:r>
            <a:r>
              <a:rPr dirty="0" sz="1900" spc="-6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 spc="-65">
                <a:solidFill>
                  <a:srgbClr val="E4E4E4"/>
                </a:solidFill>
                <a:latin typeface="Arial MT"/>
                <a:cs typeface="Arial MT"/>
              </a:rPr>
              <a:t>Bypass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216157" y="7209593"/>
            <a:ext cx="68897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35">
                <a:solidFill>
                  <a:srgbClr val="E4E4E4"/>
                </a:solidFill>
                <a:latin typeface="Arial MT"/>
                <a:cs typeface="Arial MT"/>
              </a:rPr>
              <a:t>Stored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2721660" y="7209593"/>
            <a:ext cx="255968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20">
                <a:solidFill>
                  <a:srgbClr val="DFDFDF"/>
                </a:solidFill>
                <a:latin typeface="Arial MT"/>
                <a:cs typeface="Arial MT"/>
              </a:rPr>
              <a:t>Blocked</a:t>
            </a:r>
            <a:r>
              <a:rPr dirty="0" sz="2050" spc="-3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 spc="-145">
                <a:solidFill>
                  <a:srgbClr val="DBDBDB"/>
                </a:solidFill>
                <a:latin typeface="Arial MT"/>
                <a:cs typeface="Arial MT"/>
              </a:rPr>
              <a:t>element</a:t>
            </a:r>
            <a:r>
              <a:rPr dirty="0" sz="2050" spc="2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 spc="-135">
                <a:solidFill>
                  <a:srgbClr val="E2E2E2"/>
                </a:solidFill>
                <a:latin typeface="Arial MT"/>
                <a:cs typeface="Arial MT"/>
              </a:rPr>
              <a:t>evasion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7312895" y="7209593"/>
            <a:ext cx="86233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25">
                <a:solidFill>
                  <a:srgbClr val="004B07"/>
                </a:solidFill>
                <a:latin typeface="Consolas"/>
                <a:cs typeface="Consolas"/>
              </a:rPr>
              <a:t>SOLVED</a:t>
            </a:r>
            <a:endParaRPr sz="2050">
              <a:latin typeface="Consolas"/>
              <a:cs typeface="Consolas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15706" y="8041640"/>
            <a:ext cx="20080605" cy="400685"/>
            <a:chOff x="15706" y="8041640"/>
            <a:chExt cx="20080605" cy="400685"/>
          </a:xfrm>
        </p:grpSpPr>
        <p:pic>
          <p:nvPicPr>
            <p:cNvPr id="42" name="object 4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20637" y="8041640"/>
              <a:ext cx="1177974" cy="369098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5706" y="8041640"/>
              <a:ext cx="20080605" cy="400685"/>
            </a:xfrm>
            <a:custGeom>
              <a:avLst/>
              <a:gdLst/>
              <a:ahLst/>
              <a:cxnLst/>
              <a:rect l="l" t="t" r="r" b="b"/>
              <a:pathLst>
                <a:path w="20080605" h="400684">
                  <a:moveTo>
                    <a:pt x="20080541" y="400511"/>
                  </a:moveTo>
                  <a:lnTo>
                    <a:pt x="0" y="400511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400511"/>
                  </a:lnTo>
                  <a:close/>
                </a:path>
              </a:pathLst>
            </a:custGeom>
            <a:solidFill>
              <a:srgbClr val="0C0F1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1422097" y="8058389"/>
            <a:ext cx="405511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D8D8D8"/>
                </a:solidFill>
                <a:latin typeface="Arial MT"/>
                <a:cs typeface="Arial MT"/>
              </a:rPr>
              <a:t>5.</a:t>
            </a:r>
            <a:r>
              <a:rPr dirty="0" sz="1900" spc="-13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900" spc="-45">
                <a:solidFill>
                  <a:srgbClr val="DDDDDD"/>
                </a:solidFill>
                <a:latin typeface="Arial MT"/>
                <a:cs typeface="Arial MT"/>
              </a:rPr>
              <a:t>Anchor</a:t>
            </a:r>
            <a:r>
              <a:rPr dirty="0" sz="1900" spc="-8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2E2E2"/>
                </a:solidFill>
                <a:latin typeface="Arial MT"/>
                <a:cs typeface="Arial MT"/>
              </a:rPr>
              <a:t>href</a:t>
            </a:r>
            <a:r>
              <a:rPr dirty="0" sz="1900" spc="-5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900" spc="-65">
                <a:solidFill>
                  <a:srgbClr val="E4E4E4"/>
                </a:solidFill>
                <a:latin typeface="Arial MT"/>
                <a:cs typeface="Arial MT"/>
              </a:rPr>
              <a:t>Double</a:t>
            </a:r>
            <a:r>
              <a:rPr dirty="0" sz="1900" spc="-35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900" spc="-55">
                <a:solidFill>
                  <a:srgbClr val="DFDFDF"/>
                </a:solidFill>
                <a:latin typeface="Arial MT"/>
                <a:cs typeface="Arial MT"/>
              </a:rPr>
              <a:t>Quotes</a:t>
            </a:r>
            <a:r>
              <a:rPr dirty="0" sz="1900" spc="-75">
                <a:solidFill>
                  <a:srgbClr val="DFDFDF"/>
                </a:solidFill>
                <a:latin typeface="Arial MT"/>
                <a:cs typeface="Arial MT"/>
              </a:rPr>
              <a:t> Encoding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216157" y="8042028"/>
            <a:ext cx="68897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35">
                <a:solidFill>
                  <a:srgbClr val="E2E2E2"/>
                </a:solidFill>
                <a:latin typeface="Arial MT"/>
                <a:cs typeface="Arial MT"/>
              </a:rPr>
              <a:t>Stored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2723169" y="8074749"/>
            <a:ext cx="28238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E2E2E2"/>
                </a:solidFill>
                <a:latin typeface="Arial MT"/>
                <a:cs typeface="Arial MT"/>
              </a:rPr>
              <a:t>Dynamic</a:t>
            </a:r>
            <a:r>
              <a:rPr dirty="0" sz="1800" spc="6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E6E6E6"/>
                </a:solidFill>
                <a:latin typeface="Arial MT"/>
                <a:cs typeface="Arial MT"/>
              </a:rPr>
              <a:t>Browser</a:t>
            </a:r>
            <a:r>
              <a:rPr dirty="0" sz="1800" spc="-1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D8D8D8"/>
                </a:solidFill>
                <a:latin typeface="Arial MT"/>
                <a:cs typeface="Arial MT"/>
              </a:rPr>
              <a:t>d</a:t>
            </a:r>
            <a:r>
              <a:rPr dirty="0" sz="1800" spc="-10">
                <a:solidFill>
                  <a:srgbClr val="DDDDDD"/>
                </a:solidFill>
                <a:latin typeface="Arial MT"/>
                <a:cs typeface="Arial MT"/>
              </a:rPr>
              <a:t>ecoding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6992689" y="8074749"/>
            <a:ext cx="11861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05">
                <a:solidFill>
                  <a:srgbClr val="FFFFFF"/>
                </a:solidFill>
                <a:latin typeface="Arial MT"/>
                <a:cs typeface="Arial MT"/>
              </a:rPr>
              <a:t>@</a:t>
            </a:r>
            <a:r>
              <a:rPr dirty="0" sz="180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800" spc="-114">
                <a:solidFill>
                  <a:srgbClr val="003A00"/>
                </a:solidFill>
                <a:latin typeface="Arial MT"/>
                <a:cs typeface="Arial MT"/>
              </a:rPr>
              <a:t>SOLVED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94237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9455209" y="4374212"/>
            <a:ext cx="1256665" cy="55244"/>
            <a:chOff x="9455209" y="4374212"/>
            <a:chExt cx="1256665" cy="55244"/>
          </a:xfrm>
        </p:grpSpPr>
        <p:sp>
          <p:nvSpPr>
            <p:cNvPr id="4" name="object 4" descr=""/>
            <p:cNvSpPr/>
            <p:nvPr/>
          </p:nvSpPr>
          <p:spPr>
            <a:xfrm>
              <a:off x="9478769" y="4417404"/>
              <a:ext cx="1233170" cy="0"/>
            </a:xfrm>
            <a:custGeom>
              <a:avLst/>
              <a:gdLst/>
              <a:ahLst/>
              <a:cxnLst/>
              <a:rect l="l" t="t" r="r" b="b"/>
              <a:pathLst>
                <a:path w="1233170" h="0">
                  <a:moveTo>
                    <a:pt x="0" y="0"/>
                  </a:moveTo>
                  <a:lnTo>
                    <a:pt x="1232946" y="0"/>
                  </a:lnTo>
                </a:path>
              </a:pathLst>
            </a:custGeom>
            <a:ln w="23559">
              <a:solidFill>
                <a:srgbClr val="031F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455209" y="4385992"/>
              <a:ext cx="1256665" cy="0"/>
            </a:xfrm>
            <a:custGeom>
              <a:avLst/>
              <a:gdLst/>
              <a:ahLst/>
              <a:cxnLst/>
              <a:rect l="l" t="t" r="r" b="b"/>
              <a:pathLst>
                <a:path w="1256665" h="0">
                  <a:moveTo>
                    <a:pt x="0" y="0"/>
                  </a:moveTo>
                  <a:lnTo>
                    <a:pt x="1256506" y="0"/>
                  </a:lnTo>
                </a:path>
              </a:pathLst>
            </a:custGeom>
            <a:ln w="23559">
              <a:solidFill>
                <a:srgbClr val="031F1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5706" y="4994612"/>
            <a:ext cx="20080605" cy="840740"/>
          </a:xfrm>
          <a:custGeom>
            <a:avLst/>
            <a:gdLst/>
            <a:ahLst/>
            <a:cxnLst/>
            <a:rect l="l" t="t" r="r" b="b"/>
            <a:pathLst>
              <a:path w="20080605" h="840739">
                <a:moveTo>
                  <a:pt x="20080541" y="840288"/>
                </a:moveTo>
                <a:lnTo>
                  <a:pt x="0" y="84028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840288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87111" y="4751552"/>
            <a:ext cx="10688955" cy="10464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700" spc="-365"/>
              <a:t>Task</a:t>
            </a:r>
            <a:r>
              <a:rPr dirty="0" sz="6700" spc="125"/>
              <a:t> </a:t>
            </a:r>
            <a:r>
              <a:rPr dirty="0" sz="6700" spc="-260"/>
              <a:t>2:</a:t>
            </a:r>
            <a:r>
              <a:rPr dirty="0" sz="6700" spc="-190"/>
              <a:t> </a:t>
            </a:r>
            <a:r>
              <a:rPr dirty="0" sz="6700"/>
              <a:t>Vulnerability</a:t>
            </a:r>
            <a:r>
              <a:rPr dirty="0" sz="6700" spc="560"/>
              <a:t> </a:t>
            </a:r>
            <a:r>
              <a:rPr dirty="0" sz="6700" spc="-210"/>
              <a:t>Analysis</a:t>
            </a:r>
            <a:endParaRPr sz="6700"/>
          </a:p>
        </p:txBody>
      </p:sp>
      <p:sp>
        <p:nvSpPr>
          <p:cNvPr id="8" name="object 8" descr=""/>
          <p:cNvSpPr/>
          <p:nvPr/>
        </p:nvSpPr>
        <p:spPr>
          <a:xfrm>
            <a:off x="15706" y="6141174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C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706" y="6580951"/>
            <a:ext cx="20080605" cy="227965"/>
          </a:xfrm>
          <a:custGeom>
            <a:avLst/>
            <a:gdLst/>
            <a:ahLst/>
            <a:cxnLst/>
            <a:rect l="l" t="t" r="r" b="b"/>
            <a:pathLst>
              <a:path w="20080605" h="227965">
                <a:moveTo>
                  <a:pt x="20080541" y="227741"/>
                </a:moveTo>
                <a:lnTo>
                  <a:pt x="0" y="22774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27741"/>
                </a:lnTo>
                <a:close/>
              </a:path>
            </a:pathLst>
          </a:custGeom>
          <a:solidFill>
            <a:srgbClr val="0C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946132" y="5991043"/>
            <a:ext cx="12201525" cy="873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907915" marR="5080" indent="-4895850">
              <a:lnSpc>
                <a:spcPct val="121000"/>
              </a:lnSpc>
              <a:spcBef>
                <a:spcPts val="95"/>
              </a:spcBef>
              <a:tabLst>
                <a:tab pos="3095625" algn="l"/>
                <a:tab pos="6463030" algn="l"/>
                <a:tab pos="10376535" algn="l"/>
              </a:tabLst>
            </a:pPr>
            <a:r>
              <a:rPr dirty="0" sz="2300">
                <a:solidFill>
                  <a:srgbClr val="9E9E9E"/>
                </a:solidFill>
                <a:latin typeface="Arial MT"/>
                <a:cs typeface="Arial MT"/>
              </a:rPr>
              <a:t>Proactive</a:t>
            </a:r>
            <a:r>
              <a:rPr dirty="0" sz="2300" spc="325">
                <a:solidFill>
                  <a:srgbClr val="9E9E9E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AAAAA"/>
                </a:solidFill>
                <a:latin typeface="Arial MT"/>
                <a:cs typeface="Arial MT"/>
              </a:rPr>
              <a:t>assessment</a:t>
            </a: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	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of</a:t>
            </a:r>
            <a:r>
              <a:rPr dirty="0" sz="2300" spc="30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application</a:t>
            </a:r>
            <a:r>
              <a:rPr dirty="0" sz="2300" spc="30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1A1A1"/>
                </a:solidFill>
                <a:latin typeface="Arial MT"/>
                <a:cs typeface="Arial MT"/>
              </a:rPr>
              <a:t>parameter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	</a:t>
            </a:r>
            <a:r>
              <a:rPr dirty="0" sz="2300" spc="10">
                <a:solidFill>
                  <a:srgbClr val="A1A1A1"/>
                </a:solidFill>
                <a:latin typeface="Arial MT"/>
                <a:cs typeface="Arial MT"/>
              </a:rPr>
              <a:t>vulnerabilitie</a:t>
            </a:r>
            <a:r>
              <a:rPr dirty="0" sz="2300" spc="-409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10">
                <a:solidFill>
                  <a:srgbClr val="979797"/>
                </a:solidFill>
                <a:latin typeface="Arial MT"/>
                <a:cs typeface="Arial MT"/>
              </a:rPr>
              <a:t>s</a:t>
            </a:r>
            <a:r>
              <a:rPr dirty="0" sz="2300" spc="45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300" spc="10">
                <a:solidFill>
                  <a:srgbClr val="9C9C9C"/>
                </a:solidFill>
                <a:latin typeface="Arial MT"/>
                <a:cs typeface="Arial MT"/>
              </a:rPr>
              <a:t>via</a:t>
            </a:r>
            <a:r>
              <a:rPr dirty="0" sz="2300" spc="50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9E9E9E"/>
                </a:solidFill>
                <a:latin typeface="Arial MT"/>
                <a:cs typeface="Arial MT"/>
              </a:rPr>
              <a:t>automated</a:t>
            </a:r>
            <a:r>
              <a:rPr dirty="0" sz="2300">
                <a:solidFill>
                  <a:srgbClr val="9E9E9E"/>
                </a:solidFill>
                <a:latin typeface="Arial MT"/>
                <a:cs typeface="Arial MT"/>
              </a:rPr>
              <a:t>	</a:t>
            </a:r>
            <a:r>
              <a:rPr dirty="0" sz="2300">
                <a:solidFill>
                  <a:srgbClr val="AAAAAA"/>
                </a:solidFill>
                <a:latin typeface="Arial MT"/>
                <a:cs typeface="Arial MT"/>
              </a:rPr>
              <a:t>scanners</a:t>
            </a:r>
            <a:r>
              <a:rPr dirty="0" sz="2300" spc="48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300" spc="-25">
                <a:solidFill>
                  <a:srgbClr val="959595"/>
                </a:solidFill>
                <a:latin typeface="Arial MT"/>
                <a:cs typeface="Arial MT"/>
              </a:rPr>
              <a:t>and </a:t>
            </a:r>
            <a:r>
              <a:rPr dirty="0" sz="2300">
                <a:solidFill>
                  <a:srgbClr val="A1A1A1"/>
                </a:solidFill>
                <a:latin typeface="Arial MT"/>
                <a:cs typeface="Arial MT"/>
              </a:rPr>
              <a:t>manual</a:t>
            </a:r>
            <a:r>
              <a:rPr dirty="0" sz="2300" spc="15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0A0A0"/>
                </a:solidFill>
                <a:latin typeface="Arial MT"/>
                <a:cs typeface="Arial MT"/>
              </a:rPr>
              <a:t>validation.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9423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895260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69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50" spc="-275"/>
              <a:t>Reflected</a:t>
            </a:r>
            <a:r>
              <a:rPr dirty="0" sz="5150" spc="5"/>
              <a:t> </a:t>
            </a:r>
            <a:r>
              <a:rPr dirty="0" sz="5150" spc="-270"/>
              <a:t>Parameter</a:t>
            </a:r>
            <a:r>
              <a:rPr dirty="0" sz="5150" spc="200"/>
              <a:t> </a:t>
            </a:r>
            <a:r>
              <a:rPr dirty="0" sz="5150" spc="-320"/>
              <a:t>Danger</a:t>
            </a:r>
            <a:endParaRPr sz="5150"/>
          </a:p>
        </p:txBody>
      </p:sp>
      <p:sp>
        <p:nvSpPr>
          <p:cNvPr id="5" name="object 5" descr=""/>
          <p:cNvSpPr/>
          <p:nvPr/>
        </p:nvSpPr>
        <p:spPr>
          <a:xfrm>
            <a:off x="15706" y="4947493"/>
            <a:ext cx="20080605" cy="306705"/>
          </a:xfrm>
          <a:custGeom>
            <a:avLst/>
            <a:gdLst/>
            <a:ahLst/>
            <a:cxnLst/>
            <a:rect l="l" t="t" r="r" b="b"/>
            <a:pathLst>
              <a:path w="20080605" h="306704">
                <a:moveTo>
                  <a:pt x="20080541" y="306273"/>
                </a:moveTo>
                <a:lnTo>
                  <a:pt x="0" y="30627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06273"/>
                </a:lnTo>
                <a:close/>
              </a:path>
            </a:pathLst>
          </a:custGeom>
          <a:solidFill>
            <a:srgbClr val="0C131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5706" y="5324445"/>
            <a:ext cx="20080605" cy="1264920"/>
            <a:chOff x="15706" y="5324445"/>
            <a:chExt cx="20080605" cy="126492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9984" y="5952698"/>
              <a:ext cx="808875" cy="61254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2065" y="5913432"/>
              <a:ext cx="612546" cy="50260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77837" y="5520774"/>
              <a:ext cx="620399" cy="76175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6146" y="5363710"/>
              <a:ext cx="274860" cy="46333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66359" y="5340151"/>
              <a:ext cx="1539220" cy="57328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34946" y="6023376"/>
              <a:ext cx="1657017" cy="55757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07670" y="5363710"/>
              <a:ext cx="424070" cy="88740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5706" y="5324445"/>
              <a:ext cx="20080605" cy="1264920"/>
            </a:xfrm>
            <a:custGeom>
              <a:avLst/>
              <a:gdLst/>
              <a:ahLst/>
              <a:cxnLst/>
              <a:rect l="l" t="t" r="r" b="b"/>
              <a:pathLst>
                <a:path w="20080605" h="1264920">
                  <a:moveTo>
                    <a:pt x="20080541" y="1264359"/>
                  </a:moveTo>
                  <a:lnTo>
                    <a:pt x="0" y="1264359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264359"/>
                  </a:lnTo>
                  <a:close/>
                </a:path>
              </a:pathLst>
            </a:custGeom>
            <a:solidFill>
              <a:srgbClr val="0C11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0347452" y="4599034"/>
            <a:ext cx="7780655" cy="1668780"/>
          </a:xfrm>
          <a:prstGeom prst="rect">
            <a:avLst/>
          </a:prstGeom>
        </p:spPr>
        <p:txBody>
          <a:bodyPr wrap="square" lIns="0" tIns="264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dirty="0" sz="2950">
                <a:solidFill>
                  <a:srgbClr val="6797DA"/>
                </a:solidFill>
                <a:latin typeface="Arial MT"/>
                <a:cs typeface="Arial MT"/>
              </a:rPr>
              <a:t>Unsonitized</a:t>
            </a:r>
            <a:r>
              <a:rPr dirty="0" sz="2950" spc="110">
                <a:solidFill>
                  <a:srgbClr val="6797DA"/>
                </a:solidFill>
                <a:latin typeface="Arial MT"/>
                <a:cs typeface="Arial MT"/>
              </a:rPr>
              <a:t> </a:t>
            </a:r>
            <a:r>
              <a:rPr dirty="0" sz="2950">
                <a:solidFill>
                  <a:srgbClr val="5BAAF4"/>
                </a:solidFill>
                <a:latin typeface="Arial MT"/>
                <a:cs typeface="Arial MT"/>
              </a:rPr>
              <a:t>Search</a:t>
            </a:r>
            <a:r>
              <a:rPr dirty="0" sz="2950" spc="-10">
                <a:solidFill>
                  <a:srgbClr val="5BAAF4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85A7CD"/>
                </a:solidFill>
                <a:latin typeface="Arial MT"/>
                <a:cs typeface="Arial MT"/>
              </a:rPr>
              <a:t>Variables</a:t>
            </a:r>
            <a:endParaRPr sz="2950">
              <a:latin typeface="Arial MT"/>
              <a:cs typeface="Arial MT"/>
            </a:endParaRPr>
          </a:p>
          <a:p>
            <a:pPr marL="24765" marR="5080" indent="1905">
              <a:lnSpc>
                <a:spcPct val="112000"/>
              </a:lnSpc>
              <a:spcBef>
                <a:spcPts val="1230"/>
              </a:spcBef>
              <a:tabLst>
                <a:tab pos="3714750" algn="l"/>
                <a:tab pos="4091940" algn="l"/>
              </a:tabLst>
            </a:pPr>
            <a:r>
              <a:rPr dirty="0" sz="2300" spc="-225">
                <a:solidFill>
                  <a:srgbClr val="9A9A9A"/>
                </a:solidFill>
                <a:latin typeface="Arial MT"/>
                <a:cs typeface="Arial MT"/>
              </a:rPr>
              <a:t>The</a:t>
            </a:r>
            <a:r>
              <a:rPr dirty="0" sz="2300" spc="65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300" spc="-125">
                <a:solidFill>
                  <a:srgbClr val="A5A5A5"/>
                </a:solidFill>
                <a:latin typeface="Arial MT"/>
                <a:cs typeface="Arial MT"/>
              </a:rPr>
              <a:t>parameter</a:t>
            </a:r>
            <a:r>
              <a:rPr dirty="0" sz="2300" spc="-35">
                <a:solidFill>
                  <a:srgbClr val="A5A5A5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solidFill>
                  <a:srgbClr val="9A9A9A"/>
                </a:solidFill>
                <a:latin typeface="Arial MT"/>
                <a:cs typeface="Arial MT"/>
              </a:rPr>
              <a:t>inputs</a:t>
            </a:r>
            <a:r>
              <a:rPr dirty="0" sz="2300">
                <a:solidFill>
                  <a:srgbClr val="9A9A9A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0A0A0"/>
                </a:solidFill>
                <a:latin typeface="Arial MT"/>
                <a:cs typeface="Arial MT"/>
              </a:rPr>
              <a:t>(search,</a:t>
            </a:r>
            <a:r>
              <a:rPr dirty="0" sz="2300">
                <a:solidFill>
                  <a:srgbClr val="A0A0A0"/>
                </a:solidFill>
                <a:latin typeface="Arial MT"/>
                <a:cs typeface="Arial MT"/>
              </a:rPr>
              <a:t>	</a:t>
            </a:r>
            <a:r>
              <a:rPr dirty="0" sz="2300" spc="-25">
                <a:solidFill>
                  <a:srgbClr val="9C9C9C"/>
                </a:solidFill>
                <a:latin typeface="Arial MT"/>
                <a:cs typeface="Arial MT"/>
              </a:rPr>
              <a:t>q,</a:t>
            </a:r>
            <a:r>
              <a:rPr dirty="0" sz="2300">
                <a:solidFill>
                  <a:srgbClr val="9C9C9C"/>
                </a:solidFill>
                <a:latin typeface="Arial MT"/>
                <a:cs typeface="Arial MT"/>
              </a:rPr>
              <a:t>	</a:t>
            </a:r>
            <a:r>
              <a:rPr dirty="0" sz="2300" spc="-155">
                <a:solidFill>
                  <a:srgbClr val="A1A1A1"/>
                </a:solidFill>
                <a:latin typeface="Arial MT"/>
                <a:cs typeface="Arial MT"/>
              </a:rPr>
              <a:t>query)</a:t>
            </a:r>
            <a:r>
              <a:rPr dirty="0" sz="2300" spc="2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120">
                <a:solidFill>
                  <a:srgbClr val="979797"/>
                </a:solidFill>
                <a:latin typeface="Arial MT"/>
                <a:cs typeface="Arial MT"/>
              </a:rPr>
              <a:t>are</a:t>
            </a:r>
            <a:r>
              <a:rPr dirty="0" sz="2300" spc="-40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300" spc="-125">
                <a:solidFill>
                  <a:srgbClr val="979797"/>
                </a:solidFill>
                <a:latin typeface="Arial MT"/>
                <a:cs typeface="Arial MT"/>
              </a:rPr>
              <a:t>mapped</a:t>
            </a:r>
            <a:r>
              <a:rPr dirty="0" sz="2300" spc="-5">
                <a:solidFill>
                  <a:srgbClr val="979797"/>
                </a:solidFill>
                <a:latin typeface="Arial MT"/>
                <a:cs typeface="Arial MT"/>
              </a:rPr>
              <a:t> </a:t>
            </a:r>
            <a:r>
              <a:rPr dirty="0" sz="2300" spc="-60">
                <a:solidFill>
                  <a:srgbClr val="9C9C9C"/>
                </a:solidFill>
                <a:latin typeface="Arial MT"/>
                <a:cs typeface="Arial MT"/>
              </a:rPr>
              <a:t>directly</a:t>
            </a:r>
            <a:r>
              <a:rPr dirty="0" sz="2300" spc="10">
                <a:solidFill>
                  <a:srgbClr val="9C9C9C"/>
                </a:solidFill>
                <a:latin typeface="Arial MT"/>
                <a:cs typeface="Arial MT"/>
              </a:rPr>
              <a:t> </a:t>
            </a:r>
            <a:r>
              <a:rPr dirty="0" sz="2300" spc="-55">
                <a:solidFill>
                  <a:srgbClr val="8E8E8E"/>
                </a:solidFill>
                <a:latin typeface="Arial MT"/>
                <a:cs typeface="Arial MT"/>
              </a:rPr>
              <a:t>into </a:t>
            </a:r>
            <a:r>
              <a:rPr dirty="0" sz="2300" spc="-135">
                <a:solidFill>
                  <a:srgbClr val="A8A8A8"/>
                </a:solidFill>
                <a:latin typeface="Arial MT"/>
                <a:cs typeface="Arial MT"/>
              </a:rPr>
              <a:t>server-</a:t>
            </a:r>
            <a:r>
              <a:rPr dirty="0" sz="2300" spc="-60">
                <a:solidFill>
                  <a:srgbClr val="A8A8A8"/>
                </a:solidFill>
                <a:latin typeface="Arial MT"/>
                <a:cs typeface="Arial MT"/>
              </a:rPr>
              <a:t>side</a:t>
            </a:r>
            <a:r>
              <a:rPr dirty="0" sz="2300" spc="-6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300" spc="-105">
                <a:solidFill>
                  <a:srgbClr val="A3A3A3"/>
                </a:solidFill>
                <a:latin typeface="Arial MT"/>
                <a:cs typeface="Arial MT"/>
              </a:rPr>
              <a:t>template</a:t>
            </a:r>
            <a:r>
              <a:rPr dirty="0" sz="2300" spc="-3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300" spc="-100">
                <a:solidFill>
                  <a:srgbClr val="A1A1A1"/>
                </a:solidFill>
                <a:latin typeface="Arial MT"/>
                <a:cs typeface="Arial MT"/>
              </a:rPr>
              <a:t>render</a:t>
            </a:r>
            <a:r>
              <a:rPr dirty="0" sz="2300" spc="35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125">
                <a:solidFill>
                  <a:srgbClr val="A1A1A1"/>
                </a:solidFill>
                <a:latin typeface="Arial MT"/>
                <a:cs typeface="Arial MT"/>
              </a:rPr>
              <a:t>engines</a:t>
            </a:r>
            <a:r>
              <a:rPr dirty="0" sz="2300" spc="1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90">
                <a:solidFill>
                  <a:srgbClr val="A1A1A1"/>
                </a:solidFill>
                <a:latin typeface="Arial MT"/>
                <a:cs typeface="Arial MT"/>
              </a:rPr>
              <a:t>without</a:t>
            </a:r>
            <a:r>
              <a:rPr dirty="0" sz="2300" spc="20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300" spc="-65">
                <a:solidFill>
                  <a:srgbClr val="A3A3A3"/>
                </a:solidFill>
                <a:latin typeface="Arial MT"/>
                <a:cs typeface="Arial MT"/>
              </a:rPr>
              <a:t>output</a:t>
            </a:r>
            <a:r>
              <a:rPr dirty="0" sz="2300" spc="15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300" spc="-140">
                <a:solidFill>
                  <a:srgbClr val="A0A0A0"/>
                </a:solidFill>
                <a:latin typeface="Arial MT"/>
                <a:cs typeface="Arial MT"/>
              </a:rPr>
              <a:t>serializ</a:t>
            </a:r>
            <a:r>
              <a:rPr dirty="0" sz="2300" spc="-295">
                <a:solidFill>
                  <a:srgbClr val="A0A0A0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A1A1A1"/>
                </a:solidFill>
                <a:latin typeface="Arial MT"/>
                <a:cs typeface="Arial MT"/>
              </a:rPr>
              <a:t>ation.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5706" y="6926490"/>
            <a:ext cx="20080605" cy="337820"/>
            <a:chOff x="15706" y="6926490"/>
            <a:chExt cx="20080605" cy="337820"/>
          </a:xfrm>
        </p:grpSpPr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83134" y="7052141"/>
              <a:ext cx="3463245" cy="20418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706" y="6926490"/>
              <a:ext cx="20080605" cy="337820"/>
            </a:xfrm>
            <a:custGeom>
              <a:avLst/>
              <a:gdLst/>
              <a:ahLst/>
              <a:cxnLst/>
              <a:rect l="l" t="t" r="r" b="b"/>
              <a:pathLst>
                <a:path w="20080605" h="337820">
                  <a:moveTo>
                    <a:pt x="20080541" y="337686"/>
                  </a:moveTo>
                  <a:lnTo>
                    <a:pt x="0" y="337686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337686"/>
                  </a:lnTo>
                  <a:close/>
                </a:path>
              </a:pathLst>
            </a:custGeom>
            <a:solidFill>
              <a:srgbClr val="0C111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1396219" y="6883032"/>
            <a:ext cx="7132955" cy="2419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77520" algn="l"/>
              </a:tabLst>
            </a:pPr>
            <a:r>
              <a:rPr dirty="0" sz="1400" spc="-25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dirty="0" sz="1400">
                <a:solidFill>
                  <a:srgbClr val="F0F0F0"/>
                </a:solidFill>
                <a:latin typeface="Arial MT"/>
                <a:cs typeface="Arial MT"/>
              </a:rPr>
              <a:t>/</a:t>
            </a:r>
            <a:r>
              <a:rPr dirty="0" sz="1400" spc="18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400" spc="125">
                <a:solidFill>
                  <a:srgbClr val="F0F0F0"/>
                </a:solidFill>
                <a:latin typeface="Arial MT"/>
                <a:cs typeface="Arial MT"/>
              </a:rPr>
              <a:t>sear</a:t>
            </a:r>
            <a:r>
              <a:rPr dirty="0" sz="1400" spc="-11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0F0F0"/>
                </a:solidFill>
                <a:latin typeface="Arial MT"/>
                <a:cs typeface="Arial MT"/>
              </a:rPr>
              <a:t>c</a:t>
            </a:r>
            <a:r>
              <a:rPr dirty="0" sz="1400" spc="-229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400" spc="195">
                <a:solidFill>
                  <a:srgbClr val="EBEBEB"/>
                </a:solidFill>
                <a:latin typeface="Arial MT"/>
                <a:cs typeface="Arial MT"/>
              </a:rPr>
              <a:t>h*q=iq</a:t>
            </a:r>
            <a:r>
              <a:rPr dirty="0" sz="1400" spc="-229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z</a:t>
            </a:r>
            <a:r>
              <a:rPr dirty="0" sz="1400" spc="-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78</a:t>
            </a: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341D0F"/>
                </a:solidFill>
                <a:latin typeface="Arial MT"/>
                <a:cs typeface="Arial MT"/>
              </a:rPr>
              <a:t>'</a:t>
            </a:r>
            <a:r>
              <a:rPr dirty="0" sz="1400" spc="-90">
                <a:solidFill>
                  <a:srgbClr val="341D0F"/>
                </a:solidFill>
                <a:latin typeface="Arial MT"/>
                <a:cs typeface="Arial MT"/>
              </a:rPr>
              <a:t> </a:t>
            </a:r>
            <a:r>
              <a:rPr dirty="0" sz="1400" spc="85">
                <a:solidFill>
                  <a:srgbClr val="FFFFFF"/>
                </a:solidFill>
                <a:latin typeface="Arial MT"/>
                <a:cs typeface="Arial MT"/>
              </a:rPr>
              <a:t>63e63</a:t>
            </a:r>
            <a:r>
              <a:rPr dirty="0" sz="1400" spc="-1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65">
                <a:solidFill>
                  <a:srgbClr val="E8E8E8"/>
                </a:solidFill>
                <a:latin typeface="Arial MT"/>
                <a:cs typeface="Arial MT"/>
              </a:rPr>
              <a:t>c</a:t>
            </a:r>
            <a:r>
              <a:rPr dirty="0" sz="1400" spc="65">
                <a:solidFill>
                  <a:srgbClr val="E4E4E4"/>
                </a:solidFill>
                <a:latin typeface="Arial MT"/>
                <a:cs typeface="Arial MT"/>
              </a:rPr>
              <a:t>i</a:t>
            </a:r>
            <a:r>
              <a:rPr dirty="0" sz="1400" spc="190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1400" spc="-140">
                <a:solidFill>
                  <a:srgbClr val="F2F2F2"/>
                </a:solidFill>
                <a:latin typeface="Arial MT"/>
                <a:cs typeface="Arial MT"/>
              </a:rPr>
              <a:t>mg%2</a:t>
            </a:r>
            <a:r>
              <a:rPr dirty="0" sz="1400" spc="-20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1400" spc="70">
                <a:solidFill>
                  <a:srgbClr val="F7F7F7"/>
                </a:solidFill>
                <a:latin typeface="Arial MT"/>
                <a:cs typeface="Arial MT"/>
              </a:rPr>
              <a:t>õ</a:t>
            </a:r>
            <a:r>
              <a:rPr dirty="0" sz="1400" spc="70">
                <a:solidFill>
                  <a:srgbClr val="F4F4F4"/>
                </a:solidFill>
                <a:latin typeface="Arial MT"/>
                <a:cs typeface="Arial MT"/>
              </a:rPr>
              <a:t>s</a:t>
            </a:r>
            <a:r>
              <a:rPr dirty="0" sz="1400" spc="-204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EFEFEF"/>
                </a:solidFill>
                <a:latin typeface="Arial MT"/>
                <a:cs typeface="Arial MT"/>
              </a:rPr>
              <a:t>r</a:t>
            </a:r>
            <a:r>
              <a:rPr dirty="0" sz="1400" spc="1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400" spc="55">
                <a:solidFill>
                  <a:srgbClr val="F2F2F2"/>
                </a:solidFill>
                <a:latin typeface="Arial MT"/>
                <a:cs typeface="Arial MT"/>
              </a:rPr>
              <a:t>c63d</a:t>
            </a:r>
            <a:r>
              <a:rPr dirty="0" sz="1400" spc="55">
                <a:solidFill>
                  <a:srgbClr val="FFFFFF"/>
                </a:solidFill>
                <a:latin typeface="Arial MT"/>
                <a:cs typeface="Arial MT"/>
              </a:rPr>
              <a:t>a%2</a:t>
            </a:r>
            <a:r>
              <a:rPr dirty="0" sz="1400" spc="55">
                <a:solidFill>
                  <a:srgbClr val="EDEDED"/>
                </a:solidFill>
                <a:latin typeface="Arial MT"/>
                <a:cs typeface="Arial MT"/>
              </a:rPr>
              <a:t>õone</a:t>
            </a:r>
            <a:r>
              <a:rPr dirty="0" sz="1400" spc="-18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0F0F0"/>
                </a:solidFill>
                <a:latin typeface="Arial MT"/>
                <a:cs typeface="Arial MT"/>
              </a:rPr>
              <a:t>r</a:t>
            </a:r>
            <a:r>
              <a:rPr dirty="0" sz="1400" spc="-1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F2F2F2"/>
                </a:solidFill>
                <a:latin typeface="Arial MT"/>
                <a:cs typeface="Arial MT"/>
              </a:rPr>
              <a:t>ro</a:t>
            </a:r>
            <a:r>
              <a:rPr dirty="0" sz="1400" spc="7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EFEFEF"/>
                </a:solidFill>
                <a:latin typeface="Arial MT"/>
                <a:cs typeface="Arial MT"/>
              </a:rPr>
              <a:t>r%3</a:t>
            </a:r>
            <a:r>
              <a:rPr dirty="0" sz="1400">
                <a:solidFill>
                  <a:srgbClr val="EDEDED"/>
                </a:solidFill>
                <a:latin typeface="Arial MT"/>
                <a:cs typeface="Arial MT"/>
              </a:rPr>
              <a:t>da</a:t>
            </a:r>
            <a:r>
              <a:rPr dirty="0" sz="1400" spc="-18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2F2F2"/>
                </a:solidFill>
                <a:latin typeface="Arial MT"/>
                <a:cs typeface="Arial MT"/>
              </a:rPr>
              <a:t>I</a:t>
            </a:r>
            <a:r>
              <a:rPr dirty="0" sz="1400" spc="135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1400" spc="80">
                <a:solidFill>
                  <a:srgbClr val="E6E6E6"/>
                </a:solidFill>
                <a:latin typeface="Arial MT"/>
                <a:cs typeface="Arial MT"/>
              </a:rPr>
              <a:t>e</a:t>
            </a:r>
            <a:r>
              <a:rPr dirty="0" sz="1400" spc="80">
                <a:solidFill>
                  <a:srgbClr val="F0F0F0"/>
                </a:solidFill>
                <a:latin typeface="Arial MT"/>
                <a:cs typeface="Arial MT"/>
              </a:rPr>
              <a:t>r</a:t>
            </a:r>
            <a:r>
              <a:rPr dirty="0" sz="1400" spc="-1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dirty="0" sz="1400" spc="3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E9E9E9"/>
                </a:solidFill>
                <a:latin typeface="Arial MT"/>
                <a:cs typeface="Arial MT"/>
              </a:rPr>
              <a:t>(</a:t>
            </a:r>
            <a:r>
              <a:rPr dirty="0" sz="1400" spc="-22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1400" spc="75">
                <a:solidFill>
                  <a:srgbClr val="EFEFEF"/>
                </a:solidFill>
                <a:latin typeface="Arial MT"/>
                <a:cs typeface="Arial MT"/>
              </a:rPr>
              <a:t>1</a:t>
            </a:r>
            <a:r>
              <a:rPr dirty="0" sz="1400" spc="-11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1400" spc="50">
                <a:solidFill>
                  <a:srgbClr val="181603"/>
                </a:solidFill>
                <a:latin typeface="Arial MT"/>
                <a:cs typeface="Arial MT"/>
              </a:rPr>
              <a:t>)</a:t>
            </a:r>
            <a:r>
              <a:rPr dirty="0" sz="1400" spc="-250">
                <a:solidFill>
                  <a:srgbClr val="181603"/>
                </a:solidFill>
                <a:latin typeface="Arial MT"/>
                <a:cs typeface="Arial MT"/>
              </a:rPr>
              <a:t> </a:t>
            </a:r>
            <a:r>
              <a:rPr dirty="0" sz="1400" spc="45">
                <a:solidFill>
                  <a:srgbClr val="FFFFFF"/>
                </a:solidFill>
                <a:latin typeface="Arial MT"/>
                <a:cs typeface="Arial MT"/>
              </a:rPr>
              <a:t>63e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706" y="78531"/>
            <a:ext cx="20088860" cy="47625"/>
            <a:chOff x="15706" y="78531"/>
            <a:chExt cx="20088860" cy="476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06" y="78531"/>
              <a:ext cx="20088393" cy="4711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78531"/>
              <a:ext cx="20088393" cy="47118"/>
            </a:xfrm>
            <a:prstGeom prst="rect">
              <a:avLst/>
            </a:prstGeom>
          </p:spPr>
        </p:pic>
      </p:grpSp>
      <p:sp>
        <p:nvSpPr>
          <p:cNvPr id="5" name="object 5" descr=""/>
          <p:cNvSpPr/>
          <p:nvPr/>
        </p:nvSpPr>
        <p:spPr>
          <a:xfrm>
            <a:off x="15706" y="895260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69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441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135"/>
              </a:spcBef>
            </a:pPr>
            <a:r>
              <a:rPr dirty="0" sz="4600" spc="-105"/>
              <a:t>XSS</a:t>
            </a:r>
            <a:r>
              <a:rPr dirty="0" sz="4600" spc="85"/>
              <a:t> </a:t>
            </a:r>
            <a:r>
              <a:rPr dirty="0" sz="4600"/>
              <a:t>Exploitation</a:t>
            </a:r>
            <a:r>
              <a:rPr dirty="0" sz="4600" spc="95"/>
              <a:t> </a:t>
            </a:r>
            <a:r>
              <a:rPr dirty="0" sz="4600" spc="-10"/>
              <a:t>Lifecycle</a:t>
            </a:r>
            <a:endParaRPr sz="4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0"/>
            <a:ext cx="20088393" cy="9423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895260"/>
            <a:ext cx="20080605" cy="636270"/>
          </a:xfrm>
          <a:custGeom>
            <a:avLst/>
            <a:gdLst/>
            <a:ahLst/>
            <a:cxnLst/>
            <a:rect l="l" t="t" r="r" b="b"/>
            <a:pathLst>
              <a:path w="20080605" h="636269">
                <a:moveTo>
                  <a:pt x="20080541" y="636106"/>
                </a:moveTo>
                <a:lnTo>
                  <a:pt x="0" y="63610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36106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dirty="0" sz="5000" spc="-325"/>
              <a:t>Defense</a:t>
            </a:r>
            <a:r>
              <a:rPr dirty="0" sz="5000" spc="40"/>
              <a:t> </a:t>
            </a:r>
            <a:r>
              <a:rPr dirty="0" sz="5000" spc="-90"/>
              <a:t>in</a:t>
            </a:r>
            <a:r>
              <a:rPr dirty="0" sz="5000" spc="-545"/>
              <a:t> </a:t>
            </a:r>
            <a:r>
              <a:rPr dirty="0" sz="5000" spc="-145"/>
              <a:t>Depth</a:t>
            </a:r>
            <a:r>
              <a:rPr dirty="0" sz="5000" spc="-380"/>
              <a:t> </a:t>
            </a:r>
            <a:r>
              <a:rPr dirty="0" sz="5000" spc="-170"/>
              <a:t>Remediation</a:t>
            </a:r>
            <a:endParaRPr sz="5000"/>
          </a:p>
        </p:txBody>
      </p:sp>
      <p:sp>
        <p:nvSpPr>
          <p:cNvPr id="5" name="object 5" descr=""/>
          <p:cNvSpPr txBox="1"/>
          <p:nvPr/>
        </p:nvSpPr>
        <p:spPr>
          <a:xfrm>
            <a:off x="15706" y="4272121"/>
            <a:ext cx="20080605" cy="369570"/>
          </a:xfrm>
          <a:prstGeom prst="rect">
            <a:avLst/>
          </a:prstGeom>
          <a:solidFill>
            <a:srgbClr val="0C1316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327025">
              <a:lnSpc>
                <a:spcPts val="2450"/>
              </a:lnSpc>
            </a:pPr>
            <a:r>
              <a:rPr dirty="0" sz="2050">
                <a:solidFill>
                  <a:srgbClr val="FFFFFF"/>
                </a:solidFill>
                <a:latin typeface="Arial MT"/>
                <a:cs typeface="Arial MT"/>
              </a:rPr>
              <a:t>Context-Aware</a:t>
            </a:r>
            <a:r>
              <a:rPr dirty="0" sz="205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FFFFFF"/>
                </a:solidFill>
                <a:latin typeface="Arial MT"/>
                <a:cs typeface="Arial MT"/>
              </a:rPr>
              <a:t>Encoding:</a:t>
            </a:r>
            <a:r>
              <a:rPr dirty="0" sz="205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 spc="-30">
                <a:solidFill>
                  <a:srgbClr val="D8D8D8"/>
                </a:solidFill>
                <a:latin typeface="Arial MT"/>
                <a:cs typeface="Arial MT"/>
              </a:rPr>
              <a:t>E</a:t>
            </a:r>
            <a:r>
              <a:rPr dirty="0" sz="2050" spc="-30">
                <a:solidFill>
                  <a:srgbClr val="D6D6D6"/>
                </a:solidFill>
                <a:latin typeface="Arial MT"/>
                <a:cs typeface="Arial MT"/>
              </a:rPr>
              <a:t>nfo</a:t>
            </a:r>
            <a:r>
              <a:rPr dirty="0" sz="2050" spc="-355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rce</a:t>
            </a:r>
            <a:r>
              <a:rPr dirty="0" sz="2050" spc="18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strict,</a:t>
            </a:r>
            <a:r>
              <a:rPr dirty="0" sz="2050" spc="33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2E2E2"/>
                </a:solidFill>
                <a:latin typeface="Arial MT"/>
                <a:cs typeface="Arial MT"/>
              </a:rPr>
              <a:t>localized</a:t>
            </a:r>
            <a:r>
              <a:rPr dirty="0" sz="2050" spc="34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6D6D6"/>
                </a:solidFill>
                <a:latin typeface="Arial MT"/>
                <a:cs typeface="Arial MT"/>
              </a:rPr>
              <a:t>output</a:t>
            </a:r>
            <a:r>
              <a:rPr dirty="0" sz="2050" spc="229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4E4E4"/>
                </a:solidFill>
                <a:latin typeface="Arial MT"/>
                <a:cs typeface="Arial MT"/>
              </a:rPr>
              <a:t>translation</a:t>
            </a:r>
            <a:r>
              <a:rPr dirty="0" sz="2050" spc="459">
                <a:solidFill>
                  <a:srgbClr val="E4E4E4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FDFDF"/>
                </a:solidFill>
                <a:latin typeface="Arial MT"/>
                <a:cs typeface="Arial MT"/>
              </a:rPr>
              <a:t>(e.g.,</a:t>
            </a:r>
            <a:r>
              <a:rPr dirty="0" sz="2050" spc="225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 spc="-75">
                <a:solidFill>
                  <a:srgbClr val="DFDFDF"/>
                </a:solidFill>
                <a:latin typeface="Arial MT"/>
                <a:cs typeface="Arial MT"/>
              </a:rPr>
              <a:t>html</a:t>
            </a:r>
            <a:r>
              <a:rPr dirty="0" sz="2050" spc="-75">
                <a:solidFill>
                  <a:srgbClr val="DADADA"/>
                </a:solidFill>
                <a:latin typeface="Arial MT"/>
                <a:cs typeface="Arial MT"/>
              </a:rPr>
              <a:t>spec</a:t>
            </a:r>
            <a:r>
              <a:rPr dirty="0" sz="2050" spc="-24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6D6D6"/>
                </a:solidFill>
                <a:latin typeface="Arial MT"/>
                <a:cs typeface="Arial MT"/>
              </a:rPr>
              <a:t>i</a:t>
            </a:r>
            <a:r>
              <a:rPr dirty="0" sz="2050" spc="9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050" spc="-175">
                <a:solidFill>
                  <a:srgbClr val="DFDFDF"/>
                </a:solidFill>
                <a:latin typeface="Arial MT"/>
                <a:cs typeface="Arial MT"/>
              </a:rPr>
              <a:t>a</a:t>
            </a:r>
            <a:r>
              <a:rPr dirty="0" sz="2050" spc="-175">
                <a:solidFill>
                  <a:srgbClr val="E9E9E9"/>
                </a:solidFill>
                <a:latin typeface="Arial MT"/>
                <a:cs typeface="Arial MT"/>
              </a:rPr>
              <a:t>Cchar </a:t>
            </a:r>
            <a:r>
              <a:rPr dirty="0" sz="2050" spc="-45">
                <a:solidFill>
                  <a:srgbClr val="D8D8D8"/>
                </a:solidFill>
                <a:latin typeface="Arial MT"/>
                <a:cs typeface="Arial MT"/>
              </a:rPr>
              <a:t>s(</a:t>
            </a:r>
            <a:r>
              <a:rPr dirty="0" sz="2050" spc="-21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1E1E1"/>
                </a:solidFill>
                <a:latin typeface="Arial MT"/>
                <a:cs typeface="Arial MT"/>
              </a:rPr>
              <a:t>)</a:t>
            </a:r>
            <a:r>
              <a:rPr dirty="0" sz="2050" spc="280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inside</a:t>
            </a:r>
            <a:r>
              <a:rPr dirty="0" sz="2050" spc="229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ADADA"/>
                </a:solidFill>
                <a:latin typeface="Arial MT"/>
                <a:cs typeface="Arial MT"/>
              </a:rPr>
              <a:t>standard</a:t>
            </a:r>
            <a:r>
              <a:rPr dirty="0" sz="2050" spc="29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050" spc="-20">
                <a:solidFill>
                  <a:srgbClr val="E4E4E4"/>
                </a:solidFill>
                <a:latin typeface="Arial MT"/>
                <a:cs typeface="Arial MT"/>
              </a:rPr>
              <a:t>HTML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706" y="4711898"/>
            <a:ext cx="20080605" cy="259715"/>
          </a:xfrm>
          <a:prstGeom prst="rect">
            <a:avLst/>
          </a:prstGeom>
          <a:solidFill>
            <a:srgbClr val="0C1316"/>
          </a:solidFill>
        </p:spPr>
        <p:txBody>
          <a:bodyPr wrap="square" lIns="0" tIns="0" rIns="0" bIns="0" rtlCol="0" vert="horz">
            <a:spAutoFit/>
          </a:bodyPr>
          <a:lstStyle/>
          <a:p>
            <a:pPr marL="3287395">
              <a:lnSpc>
                <a:spcPts val="2039"/>
              </a:lnSpc>
            </a:pPr>
            <a:r>
              <a:rPr dirty="0" sz="2200" spc="-45">
                <a:solidFill>
                  <a:srgbClr val="DDDDDD"/>
                </a:solidFill>
                <a:latin typeface="Arial MT"/>
                <a:cs typeface="Arial MT"/>
              </a:rPr>
              <a:t>content</a:t>
            </a:r>
            <a:r>
              <a:rPr dirty="0" sz="2200" spc="-9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DADADA"/>
                </a:solidFill>
                <a:latin typeface="Arial MT"/>
                <a:cs typeface="Arial MT"/>
              </a:rPr>
              <a:t>fields).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706" y="5355857"/>
            <a:ext cx="20080605" cy="369570"/>
          </a:xfrm>
          <a:prstGeom prst="rect">
            <a:avLst/>
          </a:prstGeom>
          <a:solidFill>
            <a:srgbClr val="0A1115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534670">
              <a:lnSpc>
                <a:spcPts val="2450"/>
              </a:lnSpc>
            </a:pPr>
            <a:r>
              <a:rPr dirty="0" sz="2050" spc="45">
                <a:solidFill>
                  <a:srgbClr val="FFFFFF"/>
                </a:solidFill>
                <a:latin typeface="Arial MT"/>
                <a:cs typeface="Arial MT"/>
              </a:rPr>
              <a:t>Content</a:t>
            </a:r>
            <a:r>
              <a:rPr dirty="0" sz="2050" spc="229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FFFFFF"/>
                </a:solidFill>
                <a:latin typeface="Arial MT"/>
                <a:cs typeface="Arial MT"/>
              </a:rPr>
              <a:t>Security</a:t>
            </a:r>
            <a:r>
              <a:rPr dirty="0" sz="205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FFFFFF"/>
                </a:solidFill>
                <a:latin typeface="Arial MT"/>
                <a:cs typeface="Arial MT"/>
              </a:rPr>
              <a:t>Policy:</a:t>
            </a:r>
            <a:r>
              <a:rPr dirty="0" sz="2050" spc="1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Deploy</a:t>
            </a:r>
            <a:r>
              <a:rPr dirty="0" sz="2050" spc="37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FDFDF"/>
                </a:solidFill>
                <a:latin typeface="Arial MT"/>
                <a:cs typeface="Arial MT"/>
              </a:rPr>
              <a:t>strict</a:t>
            </a:r>
            <a:r>
              <a:rPr dirty="0" sz="2050" spc="24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 spc="-50">
                <a:solidFill>
                  <a:srgbClr val="D8D8D8"/>
                </a:solidFill>
                <a:latin typeface="Arial MT"/>
                <a:cs typeface="Arial MT"/>
              </a:rPr>
              <a:t>CSP</a:t>
            </a:r>
            <a:r>
              <a:rPr dirty="0" sz="2050" spc="254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configurations</a:t>
            </a:r>
            <a:r>
              <a:rPr dirty="0" sz="2050" spc="15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1E1E1"/>
                </a:solidFill>
                <a:latin typeface="Arial MT"/>
                <a:cs typeface="Arial MT"/>
              </a:rPr>
              <a:t>specifying</a:t>
            </a:r>
            <a:r>
              <a:rPr dirty="0" sz="2050" spc="-30">
                <a:solidFill>
                  <a:srgbClr val="E1E1E1"/>
                </a:solidFill>
                <a:latin typeface="Arial MT"/>
                <a:cs typeface="Arial MT"/>
              </a:rPr>
              <a:t> 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white-listed</a:t>
            </a:r>
            <a:r>
              <a:rPr dirty="0" sz="2050" spc="-30">
                <a:solidFill>
                  <a:srgbClr val="DBDBDB"/>
                </a:solidFill>
                <a:latin typeface="Arial MT"/>
                <a:cs typeface="Arial MT"/>
              </a:rPr>
              <a:t>  </a:t>
            </a:r>
            <a:r>
              <a:rPr dirty="0" sz="2050">
                <a:solidFill>
                  <a:srgbClr val="DADADA"/>
                </a:solidFill>
                <a:latin typeface="Arial MT"/>
                <a:cs typeface="Arial MT"/>
              </a:rPr>
              <a:t>scripts</a:t>
            </a:r>
            <a:r>
              <a:rPr dirty="0" sz="2050" spc="29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and</a:t>
            </a:r>
            <a:r>
              <a:rPr dirty="0" sz="2050" spc="29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explicitly</a:t>
            </a:r>
            <a:r>
              <a:rPr dirty="0" sz="2050" spc="42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restricting</a:t>
            </a:r>
            <a:r>
              <a:rPr dirty="0" sz="2050" spc="33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DBDBDB"/>
                </a:solidFill>
                <a:latin typeface="Arial MT"/>
                <a:cs typeface="Arial MT"/>
              </a:rPr>
              <a:t>inline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706" y="5795635"/>
            <a:ext cx="20080605" cy="212090"/>
          </a:xfrm>
          <a:prstGeom prst="rect">
            <a:avLst/>
          </a:prstGeom>
          <a:solidFill>
            <a:srgbClr val="0A1115"/>
          </a:solidFill>
        </p:spPr>
        <p:txBody>
          <a:bodyPr wrap="square" lIns="0" tIns="0" rIns="0" bIns="0" rtlCol="0" vert="horz">
            <a:spAutoFit/>
          </a:bodyPr>
          <a:lstStyle/>
          <a:p>
            <a:pPr marL="3288665">
              <a:lnSpc>
                <a:spcPts val="1670"/>
              </a:lnSpc>
            </a:pPr>
            <a:r>
              <a:rPr dirty="0" sz="2050" spc="-10">
                <a:solidFill>
                  <a:srgbClr val="DFDFDF"/>
                </a:solidFill>
                <a:latin typeface="Arial MT"/>
                <a:cs typeface="Arial MT"/>
              </a:rPr>
              <a:t>executions.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5706" y="6423888"/>
            <a:ext cx="20080605" cy="353695"/>
          </a:xfrm>
          <a:custGeom>
            <a:avLst/>
            <a:gdLst/>
            <a:ahLst/>
            <a:cxnLst/>
            <a:rect l="l" t="t" r="r" b="b"/>
            <a:pathLst>
              <a:path w="20080605" h="353695">
                <a:moveTo>
                  <a:pt x="20080541" y="353392"/>
                </a:moveTo>
                <a:lnTo>
                  <a:pt x="0" y="353392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53392"/>
                </a:lnTo>
                <a:close/>
              </a:path>
            </a:pathLst>
          </a:custGeom>
          <a:solidFill>
            <a:srgbClr val="0C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5706" y="6879371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5706" y="7491918"/>
            <a:ext cx="20080605" cy="369570"/>
          </a:xfrm>
          <a:custGeom>
            <a:avLst/>
            <a:gdLst/>
            <a:ahLst/>
            <a:cxnLst/>
            <a:rect l="l" t="t" r="r" b="b"/>
            <a:pathLst>
              <a:path w="20080605" h="369570">
                <a:moveTo>
                  <a:pt x="20080541" y="369098"/>
                </a:moveTo>
                <a:lnTo>
                  <a:pt x="0" y="36909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69098"/>
                </a:lnTo>
                <a:close/>
              </a:path>
            </a:pathLst>
          </a:custGeom>
          <a:solidFill>
            <a:srgbClr val="0C0F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720937" y="6381045"/>
            <a:ext cx="14332585" cy="143510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  <a:tabLst>
                <a:tab pos="569595" algn="l"/>
                <a:tab pos="5751830" algn="l"/>
              </a:tabLst>
            </a:pPr>
            <a:r>
              <a:rPr dirty="0" sz="1900" spc="-385">
                <a:solidFill>
                  <a:srgbClr val="01FF8C"/>
                </a:solidFill>
                <a:latin typeface="Arial MT"/>
                <a:cs typeface="Arial MT"/>
              </a:rPr>
              <a:t>€s</a:t>
            </a:r>
            <a:r>
              <a:rPr dirty="0" sz="1900">
                <a:solidFill>
                  <a:srgbClr val="01FF8C"/>
                </a:solidFill>
                <a:latin typeface="Arial MT"/>
                <a:cs typeface="Arial MT"/>
              </a:rPr>
              <a:t>	</a:t>
            </a:r>
            <a:r>
              <a:rPr dirty="0" sz="1900" spc="120">
                <a:solidFill>
                  <a:srgbClr val="FFFFFF"/>
                </a:solidFill>
                <a:latin typeface="Arial MT"/>
                <a:cs typeface="Arial MT"/>
              </a:rPr>
              <a:t>Input</a:t>
            </a:r>
            <a:r>
              <a:rPr dirty="0" sz="1900" spc="2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 spc="110">
                <a:solidFill>
                  <a:srgbClr val="FFFFFF"/>
                </a:solidFill>
                <a:latin typeface="Arial MT"/>
                <a:cs typeface="Arial MT"/>
              </a:rPr>
              <a:t>Whitelisting:</a:t>
            </a:r>
            <a:r>
              <a:rPr dirty="0" sz="1900" spc="3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4D4D4"/>
                </a:solidFill>
                <a:latin typeface="Arial MT"/>
                <a:cs typeface="Arial MT"/>
              </a:rPr>
              <a:t>Co</a:t>
            </a:r>
            <a:r>
              <a:rPr dirty="0" sz="1900" spc="-29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FDFDF"/>
                </a:solidFill>
                <a:latin typeface="Arial MT"/>
                <a:cs typeface="Arial MT"/>
              </a:rPr>
              <a:t>nstrain</a:t>
            </a:r>
            <a:r>
              <a:rPr dirty="0" sz="1900" spc="37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D8D8D8"/>
                </a:solidFill>
                <a:latin typeface="Arial MT"/>
                <a:cs typeface="Arial MT"/>
              </a:rPr>
              <a:t>alphanumeric</a:t>
            </a:r>
            <a:r>
              <a:rPr dirty="0" sz="1900">
                <a:solidFill>
                  <a:srgbClr val="D8D8D8"/>
                </a:solidFill>
                <a:latin typeface="Arial MT"/>
                <a:cs typeface="Arial MT"/>
              </a:rPr>
              <a:t>	</a:t>
            </a:r>
            <a:r>
              <a:rPr dirty="0" sz="1900">
                <a:solidFill>
                  <a:srgbClr val="DDDDDD"/>
                </a:solidFill>
                <a:latin typeface="Arial MT"/>
                <a:cs typeface="Arial MT"/>
              </a:rPr>
              <a:t>patterns,</a:t>
            </a:r>
            <a:r>
              <a:rPr dirty="0" sz="1900" spc="30">
                <a:solidFill>
                  <a:srgbClr val="DDDDDD"/>
                </a:solidFill>
                <a:latin typeface="Arial MT"/>
                <a:cs typeface="Arial MT"/>
              </a:rPr>
              <a:t>  </a:t>
            </a:r>
            <a:r>
              <a:rPr dirty="0" sz="1900" spc="65">
                <a:solidFill>
                  <a:srgbClr val="DBDBDB"/>
                </a:solidFill>
                <a:latin typeface="Arial MT"/>
                <a:cs typeface="Arial MT"/>
              </a:rPr>
              <a:t>strictly</a:t>
            </a:r>
            <a:r>
              <a:rPr dirty="0" sz="1900" spc="484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DDDDD"/>
                </a:solidFill>
                <a:latin typeface="Arial MT"/>
                <a:cs typeface="Arial MT"/>
              </a:rPr>
              <a:t>evaluate</a:t>
            </a:r>
            <a:r>
              <a:rPr dirty="0" sz="1900" spc="484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E1E1E1"/>
                </a:solidFill>
                <a:latin typeface="Arial MT"/>
                <a:cs typeface="Arial MT"/>
              </a:rPr>
              <a:t>length</a:t>
            </a:r>
            <a:r>
              <a:rPr dirty="0" sz="1900" spc="-10">
                <a:solidFill>
                  <a:srgbClr val="E1E1E1"/>
                </a:solidFill>
                <a:latin typeface="Arial MT"/>
                <a:cs typeface="Arial MT"/>
              </a:rPr>
              <a:t>  </a:t>
            </a:r>
            <a:r>
              <a:rPr dirty="0" sz="1900">
                <a:solidFill>
                  <a:srgbClr val="DBDBDB"/>
                </a:solidFill>
                <a:latin typeface="Arial MT"/>
                <a:cs typeface="Arial MT"/>
              </a:rPr>
              <a:t>structures,</a:t>
            </a:r>
            <a:r>
              <a:rPr dirty="0" sz="1900" spc="60">
                <a:solidFill>
                  <a:srgbClr val="DBDBDB"/>
                </a:solidFill>
                <a:latin typeface="Arial MT"/>
                <a:cs typeface="Arial MT"/>
              </a:rPr>
              <a:t>  </a:t>
            </a:r>
            <a:r>
              <a:rPr dirty="0" sz="1900">
                <a:solidFill>
                  <a:srgbClr val="DFDFDF"/>
                </a:solidFill>
                <a:latin typeface="Arial MT"/>
                <a:cs typeface="Arial MT"/>
              </a:rPr>
              <a:t>and</a:t>
            </a:r>
            <a:r>
              <a:rPr dirty="0" sz="1900" spc="42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1900" spc="-165">
                <a:solidFill>
                  <a:srgbClr val="D8D8D8"/>
                </a:solidFill>
                <a:latin typeface="Arial MT"/>
                <a:cs typeface="Arial MT"/>
              </a:rPr>
              <a:t>a</a:t>
            </a:r>
            <a:r>
              <a:rPr dirty="0" sz="1900" spc="-28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1900" spc="105">
                <a:solidFill>
                  <a:srgbClr val="DDDDDD"/>
                </a:solidFill>
                <a:latin typeface="Arial MT"/>
                <a:cs typeface="Arial MT"/>
              </a:rPr>
              <a:t>pply</a:t>
            </a:r>
            <a:r>
              <a:rPr dirty="0" sz="1900" spc="-15">
                <a:solidFill>
                  <a:srgbClr val="DDDDDD"/>
                </a:solidFill>
                <a:latin typeface="Arial MT"/>
                <a:cs typeface="Arial MT"/>
              </a:rPr>
              <a:t>  </a:t>
            </a:r>
            <a:r>
              <a:rPr dirty="0" sz="1900">
                <a:solidFill>
                  <a:srgbClr val="DADADA"/>
                </a:solidFill>
                <a:latin typeface="Arial MT"/>
                <a:cs typeface="Arial MT"/>
              </a:rPr>
              <a:t>stro</a:t>
            </a:r>
            <a:r>
              <a:rPr dirty="0" sz="1900" spc="-23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D6D6D6"/>
                </a:solidFill>
                <a:latin typeface="Arial MT"/>
                <a:cs typeface="Arial MT"/>
              </a:rPr>
              <a:t>ng</a:t>
            </a:r>
            <a:r>
              <a:rPr dirty="0" sz="1900" spc="484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1900" spc="-10">
                <a:solidFill>
                  <a:srgbClr val="DDDDDD"/>
                </a:solidFill>
                <a:latin typeface="Arial MT"/>
                <a:cs typeface="Arial MT"/>
              </a:rPr>
              <a:t>sanitation</a:t>
            </a:r>
            <a:endParaRPr sz="1900">
              <a:latin typeface="Arial MT"/>
              <a:cs typeface="Arial MT"/>
            </a:endParaRPr>
          </a:p>
          <a:p>
            <a:pPr marL="582930">
              <a:lnSpc>
                <a:spcPct val="100000"/>
              </a:lnSpc>
              <a:spcBef>
                <a:spcPts val="390"/>
              </a:spcBef>
            </a:pPr>
            <a:r>
              <a:rPr dirty="0" sz="2200" spc="-10">
                <a:solidFill>
                  <a:srgbClr val="DFDFDF"/>
                </a:solidFill>
                <a:latin typeface="Arial MT"/>
                <a:cs typeface="Arial MT"/>
              </a:rPr>
              <a:t>layers.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200">
              <a:latin typeface="Arial MT"/>
              <a:cs typeface="Arial MT"/>
            </a:endParaRPr>
          </a:p>
          <a:p>
            <a:pPr marL="92075">
              <a:lnSpc>
                <a:spcPct val="100000"/>
              </a:lnSpc>
              <a:tabLst>
                <a:tab pos="572770" algn="l"/>
                <a:tab pos="8154034" algn="l"/>
              </a:tabLst>
            </a:pPr>
            <a:r>
              <a:rPr dirty="0" sz="2050" spc="-50">
                <a:solidFill>
                  <a:srgbClr val="0FF682"/>
                </a:solidFill>
                <a:latin typeface="Arial MT"/>
                <a:cs typeface="Arial MT"/>
              </a:rPr>
              <a:t>g</a:t>
            </a:r>
            <a:r>
              <a:rPr dirty="0" sz="2050">
                <a:solidFill>
                  <a:srgbClr val="0FF682"/>
                </a:solidFill>
                <a:latin typeface="Arial MT"/>
                <a:cs typeface="Arial MT"/>
              </a:rPr>
              <a:t>	</a:t>
            </a:r>
            <a:r>
              <a:rPr dirty="0" sz="2050">
                <a:solidFill>
                  <a:srgbClr val="FFFFFF"/>
                </a:solidFill>
                <a:latin typeface="Arial MT"/>
                <a:cs typeface="Arial MT"/>
              </a:rPr>
              <a:t>Protocol</a:t>
            </a:r>
            <a:r>
              <a:rPr dirty="0" sz="205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FFFFFF"/>
                </a:solidFill>
                <a:latin typeface="Arial MT"/>
                <a:cs typeface="Arial MT"/>
              </a:rPr>
              <a:t>Validation:</a:t>
            </a:r>
            <a:r>
              <a:rPr dirty="0" sz="2050" spc="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ADADA"/>
                </a:solidFill>
                <a:latin typeface="Arial MT"/>
                <a:cs typeface="Arial MT"/>
              </a:rPr>
              <a:t>Disable</a:t>
            </a:r>
            <a:r>
              <a:rPr dirty="0" sz="2050" spc="22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hazardous</a:t>
            </a:r>
            <a:r>
              <a:rPr dirty="0" sz="2050" spc="34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E2E2E2"/>
                </a:solidFill>
                <a:latin typeface="Arial MT"/>
                <a:cs typeface="Arial MT"/>
              </a:rPr>
              <a:t>schemes</a:t>
            </a:r>
            <a:r>
              <a:rPr dirty="0" sz="2050" spc="40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6D6D6"/>
                </a:solidFill>
                <a:latin typeface="Arial MT"/>
                <a:cs typeface="Arial MT"/>
              </a:rPr>
              <a:t>(j</a:t>
            </a:r>
            <a:r>
              <a:rPr dirty="0" sz="2050" spc="1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050" spc="-170">
                <a:solidFill>
                  <a:srgbClr val="D1D1D1"/>
                </a:solidFill>
                <a:latin typeface="Arial MT"/>
                <a:cs typeface="Arial MT"/>
              </a:rPr>
              <a:t>a</a:t>
            </a:r>
            <a:r>
              <a:rPr dirty="0" sz="2050" spc="-170">
                <a:solidFill>
                  <a:srgbClr val="D8D8D8"/>
                </a:solidFill>
                <a:latin typeface="Arial MT"/>
                <a:cs typeface="Arial MT"/>
              </a:rPr>
              <a:t>vase</a:t>
            </a:r>
            <a:r>
              <a:rPr dirty="0" sz="2050" spc="-24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050" spc="245">
                <a:solidFill>
                  <a:srgbClr val="DADADA"/>
                </a:solidFill>
                <a:latin typeface="Arial MT"/>
                <a:cs typeface="Arial MT"/>
              </a:rPr>
              <a:t>ript:</a:t>
            </a:r>
            <a:r>
              <a:rPr dirty="0" sz="2050" spc="-28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050" spc="155">
                <a:solidFill>
                  <a:srgbClr val="D8D8D8"/>
                </a:solidFill>
                <a:latin typeface="Arial MT"/>
                <a:cs typeface="Arial MT"/>
              </a:rPr>
              <a:t>,</a:t>
            </a:r>
            <a:r>
              <a:rPr dirty="0" sz="2050">
                <a:solidFill>
                  <a:srgbClr val="D8D8D8"/>
                </a:solidFill>
                <a:latin typeface="Arial MT"/>
                <a:cs typeface="Arial MT"/>
              </a:rPr>
              <a:t>	</a:t>
            </a:r>
            <a:r>
              <a:rPr dirty="0" sz="2050">
                <a:solidFill>
                  <a:srgbClr val="D4D4D4"/>
                </a:solidFill>
                <a:latin typeface="Arial MT"/>
                <a:cs typeface="Arial MT"/>
              </a:rPr>
              <a:t>data:</a:t>
            </a:r>
            <a:r>
              <a:rPr dirty="0" sz="2050" spc="-30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1D1D1"/>
                </a:solidFill>
                <a:latin typeface="Arial MT"/>
                <a:cs typeface="Arial MT"/>
              </a:rPr>
              <a:t>)</a:t>
            </a:r>
            <a:r>
              <a:rPr dirty="0" sz="2050" spc="380">
                <a:solidFill>
                  <a:srgbClr val="D1D1D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dynamically</a:t>
            </a:r>
            <a:r>
              <a:rPr dirty="0" sz="2050" spc="34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DDDDD"/>
                </a:solidFill>
                <a:latin typeface="Arial MT"/>
                <a:cs typeface="Arial MT"/>
              </a:rPr>
              <a:t>during</a:t>
            </a:r>
            <a:r>
              <a:rPr dirty="0" sz="2050" spc="22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ADADA"/>
                </a:solidFill>
                <a:latin typeface="Arial MT"/>
                <a:cs typeface="Arial MT"/>
              </a:rPr>
              <a:t>input</a:t>
            </a:r>
            <a:r>
              <a:rPr dirty="0" sz="2050" spc="20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BDBDB"/>
                </a:solidFill>
                <a:latin typeface="Arial MT"/>
                <a:cs typeface="Arial MT"/>
              </a:rPr>
              <a:t>verification</a:t>
            </a:r>
            <a:r>
              <a:rPr dirty="0" sz="2050" spc="34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DBDBDB"/>
                </a:solidFill>
                <a:latin typeface="Arial MT"/>
                <a:cs typeface="Arial MT"/>
              </a:rPr>
              <a:t>routines.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59" y="0"/>
            <a:ext cx="20056981" cy="94237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706" y="3376860"/>
            <a:ext cx="20080605" cy="1029335"/>
          </a:xfrm>
          <a:custGeom>
            <a:avLst/>
            <a:gdLst/>
            <a:ahLst/>
            <a:cxnLst/>
            <a:rect l="l" t="t" r="r" b="b"/>
            <a:pathLst>
              <a:path w="20080605" h="1029335">
                <a:moveTo>
                  <a:pt x="20080541" y="1028764"/>
                </a:moveTo>
                <a:lnTo>
                  <a:pt x="0" y="102876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028764"/>
                </a:lnTo>
                <a:close/>
              </a:path>
            </a:pathLst>
          </a:custGeom>
          <a:solidFill>
            <a:srgbClr val="0C13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48912" y="3004878"/>
            <a:ext cx="9957435" cy="13804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850" spc="-55">
                <a:solidFill>
                  <a:srgbClr val="75FBC1"/>
                </a:solidFill>
                <a:latin typeface="Calibri"/>
                <a:cs typeface="Calibri"/>
              </a:rPr>
              <a:t>Assessment</a:t>
            </a:r>
            <a:r>
              <a:rPr dirty="0" sz="8850" spc="-225">
                <a:solidFill>
                  <a:srgbClr val="75FBC1"/>
                </a:solidFill>
                <a:latin typeface="Calibri"/>
                <a:cs typeface="Calibri"/>
              </a:rPr>
              <a:t> </a:t>
            </a:r>
            <a:r>
              <a:rPr dirty="0" sz="8850" spc="-50">
                <a:solidFill>
                  <a:srgbClr val="38FFA7"/>
                </a:solidFill>
                <a:latin typeface="Calibri"/>
                <a:cs typeface="Calibri"/>
              </a:rPr>
              <a:t>Complete</a:t>
            </a:r>
            <a:endParaRPr sz="885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5706" y="4649073"/>
            <a:ext cx="20088860" cy="330200"/>
            <a:chOff x="15706" y="4649073"/>
            <a:chExt cx="20088860" cy="33020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7103" y="4664779"/>
              <a:ext cx="8654186" cy="29842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4649073"/>
              <a:ext cx="20088393" cy="329832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15706" y="6188293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C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706" y="6753721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C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601181" y="6141563"/>
            <a:ext cx="4080510" cy="905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4510" algn="l"/>
              </a:tabLst>
            </a:pPr>
            <a:r>
              <a:rPr dirty="0" sz="2050" spc="-345">
                <a:solidFill>
                  <a:srgbClr val="07FB87"/>
                </a:solidFill>
                <a:latin typeface="Arial MT"/>
                <a:cs typeface="Arial MT"/>
              </a:rPr>
              <a:t>@</a:t>
            </a:r>
            <a:r>
              <a:rPr dirty="0" sz="2050">
                <a:solidFill>
                  <a:srgbClr val="07FB87"/>
                </a:solidFill>
                <a:latin typeface="Arial MT"/>
                <a:cs typeface="Arial MT"/>
              </a:rPr>
              <a:t>	</a:t>
            </a:r>
            <a:r>
              <a:rPr dirty="0" sz="2050">
                <a:solidFill>
                  <a:srgbClr val="E2E2E2"/>
                </a:solidFill>
                <a:latin typeface="Arial MT"/>
                <a:cs typeface="Arial MT"/>
              </a:rPr>
              <a:t>Researcher:</a:t>
            </a:r>
            <a:r>
              <a:rPr dirty="0" sz="2050" spc="85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DFDFDF"/>
                </a:solidFill>
                <a:latin typeface="Arial MT"/>
                <a:cs typeface="Arial MT"/>
              </a:rPr>
              <a:t>@savandobariya</a:t>
            </a:r>
            <a:endParaRPr sz="2050">
              <a:latin typeface="Arial MT"/>
              <a:cs typeface="Arial MT"/>
            </a:endParaRPr>
          </a:p>
          <a:p>
            <a:pPr marL="17780">
              <a:lnSpc>
                <a:spcPct val="100000"/>
              </a:lnSpc>
              <a:spcBef>
                <a:spcPts val="1989"/>
              </a:spcBef>
              <a:tabLst>
                <a:tab pos="531495" algn="l"/>
              </a:tabLst>
            </a:pPr>
            <a:r>
              <a:rPr dirty="0" sz="2050" spc="-50">
                <a:solidFill>
                  <a:srgbClr val="00FF85"/>
                </a:solidFill>
                <a:latin typeface="Arial MT"/>
                <a:cs typeface="Arial MT"/>
              </a:rPr>
              <a:t>æ</a:t>
            </a:r>
            <a:r>
              <a:rPr dirty="0" sz="2050">
                <a:solidFill>
                  <a:srgbClr val="00FF85"/>
                </a:solidFill>
                <a:latin typeface="Arial MT"/>
                <a:cs typeface="Arial MT"/>
              </a:rPr>
              <a:t>	</a:t>
            </a:r>
            <a:r>
              <a:rPr dirty="0" sz="2050">
                <a:solidFill>
                  <a:srgbClr val="E1E1E1"/>
                </a:solidFill>
                <a:latin typeface="Arial MT"/>
                <a:cs typeface="Arial MT"/>
              </a:rPr>
              <a:t>Completed</a:t>
            </a:r>
            <a:r>
              <a:rPr dirty="0" sz="2050" spc="215">
                <a:solidFill>
                  <a:srgbClr val="E1E1E1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E2E2E2"/>
                </a:solidFill>
                <a:latin typeface="Arial MT"/>
                <a:cs typeface="Arial MT"/>
              </a:rPr>
              <a:t>Date:</a:t>
            </a:r>
            <a:r>
              <a:rPr dirty="0" sz="2050" spc="434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050" spc="-225">
                <a:solidFill>
                  <a:srgbClr val="E2E2E2"/>
                </a:solidFill>
                <a:latin typeface="Arial MT"/>
                <a:cs typeface="Arial MT"/>
              </a:rPr>
              <a:t>2026—</a:t>
            </a:r>
            <a:r>
              <a:rPr dirty="0" sz="2050" spc="-245">
                <a:solidFill>
                  <a:srgbClr val="E2E2E2"/>
                </a:solidFill>
                <a:latin typeface="Arial MT"/>
                <a:cs typeface="Arial MT"/>
              </a:rPr>
              <a:t>05—</a:t>
            </a:r>
            <a:r>
              <a:rPr dirty="0" sz="2050" spc="-35">
                <a:solidFill>
                  <a:srgbClr val="E2E2E2"/>
                </a:solidFill>
                <a:latin typeface="Arial MT"/>
                <a:cs typeface="Arial MT"/>
              </a:rPr>
              <a:t>24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5706" y="7319148"/>
            <a:ext cx="20080605" cy="274955"/>
          </a:xfrm>
          <a:custGeom>
            <a:avLst/>
            <a:gdLst/>
            <a:ahLst/>
            <a:cxnLst/>
            <a:rect l="l" t="t" r="r" b="b"/>
            <a:pathLst>
              <a:path w="20080605" h="274954">
                <a:moveTo>
                  <a:pt x="20080541" y="274860"/>
                </a:moveTo>
                <a:lnTo>
                  <a:pt x="0" y="27486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74860"/>
                </a:lnTo>
                <a:close/>
              </a:path>
            </a:pathLst>
          </a:custGeom>
          <a:solidFill>
            <a:srgbClr val="0C111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124676" y="7272418"/>
            <a:ext cx="176022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>
                <a:solidFill>
                  <a:srgbClr val="D8D8D8"/>
                </a:solidFill>
                <a:latin typeface="Arial MT"/>
                <a:cs typeface="Arial MT"/>
              </a:rPr>
              <a:t>Verified</a:t>
            </a:r>
            <a:r>
              <a:rPr dirty="0" sz="2050" spc="16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E2E2E2"/>
                </a:solidFill>
                <a:latin typeface="Arial MT"/>
                <a:cs typeface="Arial MT"/>
              </a:rPr>
              <a:t>Score: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20342" y="7272418"/>
            <a:ext cx="2807970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85">
                <a:solidFill>
                  <a:srgbClr val="D4D4D4"/>
                </a:solidFill>
                <a:latin typeface="Arial MT"/>
                <a:cs typeface="Arial MT"/>
              </a:rPr>
              <a:t>(E</a:t>
            </a:r>
            <a:r>
              <a:rPr dirty="0" sz="2050" spc="-32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050">
                <a:solidFill>
                  <a:srgbClr val="DFDFDF"/>
                </a:solidFill>
                <a:latin typeface="Arial MT"/>
                <a:cs typeface="Arial MT"/>
              </a:rPr>
              <a:t>xcellent</a:t>
            </a:r>
            <a:r>
              <a:rPr dirty="0" sz="2050" spc="14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050" spc="-10">
                <a:solidFill>
                  <a:srgbClr val="DFDFDF"/>
                </a:solidFill>
                <a:latin typeface="Arial MT"/>
                <a:cs typeface="Arial MT"/>
              </a:rPr>
              <a:t>Performance)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94156" y="0"/>
            <a:ext cx="109944" cy="47118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5706" y="0"/>
            <a:ext cx="20088860" cy="47625"/>
            <a:chOff x="15706" y="0"/>
            <a:chExt cx="20088860" cy="4762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06" y="0"/>
              <a:ext cx="4177883" cy="4711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06" y="0"/>
              <a:ext cx="20088393" cy="47118"/>
            </a:xfrm>
            <a:prstGeom prst="rect">
              <a:avLst/>
            </a:prstGeom>
          </p:spPr>
        </p:pic>
      </p:grpSp>
      <p:sp>
        <p:nvSpPr>
          <p:cNvPr id="6" name="object 6" descr=""/>
          <p:cNvSpPr/>
          <p:nvPr/>
        </p:nvSpPr>
        <p:spPr>
          <a:xfrm>
            <a:off x="15706" y="926673"/>
            <a:ext cx="20080605" cy="605155"/>
          </a:xfrm>
          <a:custGeom>
            <a:avLst/>
            <a:gdLst/>
            <a:ahLst/>
            <a:cxnLst/>
            <a:rect l="l" t="t" r="r" b="b"/>
            <a:pathLst>
              <a:path w="20080605" h="605155">
                <a:moveTo>
                  <a:pt x="20080541" y="604693"/>
                </a:moveTo>
                <a:lnTo>
                  <a:pt x="0" y="60469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04693"/>
                </a:lnTo>
                <a:close/>
              </a:path>
            </a:pathLst>
          </a:custGeom>
          <a:solidFill>
            <a:srgbClr val="1313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2991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5"/>
              </a:spcBef>
            </a:pPr>
            <a:r>
              <a:rPr dirty="0" spc="170"/>
              <a:t>Image</a:t>
            </a:r>
            <a:r>
              <a:rPr dirty="0" spc="-90"/>
              <a:t> </a:t>
            </a:r>
            <a:r>
              <a:rPr dirty="0" spc="-105"/>
              <a:t>Sources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15706" y="5811341"/>
            <a:ext cx="20088860" cy="251460"/>
            <a:chOff x="15706" y="5811341"/>
            <a:chExt cx="20088860" cy="251460"/>
          </a:xfrm>
        </p:grpSpPr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5811341"/>
              <a:ext cx="20088393" cy="251301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06" y="5811341"/>
              <a:ext cx="20088393" cy="2513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2026-05-28T11:56:27Z</dcterms:created>
  <dcterms:modified xsi:type="dcterms:W3CDTF">2026-05-28T11:56:27Z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2026-05-28T00:00:00Z</vt:filetime>
  </property>
  <property fmtid="{D5CDD505-2E9C-101B-9397-08002B2CF9AE}" pid="3" name="LastSaved">
    <vt:filetime>2026-05-28T00:00:00Z</vt:filetime>
  </property>
</Properties>
</file>